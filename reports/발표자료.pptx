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03120"/>
            <a:ext cx="106984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F3A5F"/>
                </a:solidFill>
                <a:latin typeface="Malgun Gothic"/>
              </a:rPr>
              <a:t>대한민국 법률 서비스 접근성 불균형 분석</a:t>
            </a:r>
          </a:p>
          <a:p>
            <a:r>
              <a:rPr sz="2200">
                <a:solidFill>
                  <a:srgbClr val="C44E52"/>
                </a:solidFill>
                <a:latin typeface="Malgun Gothic"/>
              </a:rPr>
              <a:t>지역별 종합 법률 접근성 지수(LLAI) 개발 및 격차 탐색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75488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0">
                <a:solidFill>
                  <a:srgbClr val="555555"/>
                </a:solidFill>
                <a:latin typeface="Malgun Gothic"/>
              </a:rPr>
              <a:t>서강대학교 빅데이터컴퓨팅(BDS3010) · 20210717 김찬우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핵심 요약 — 한 눈에 보기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45920"/>
          <a:ext cx="1088136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9235440"/>
              </a:tblGrid>
              <a:tr h="701040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algun Gothic"/>
                        </a:rPr>
                        <a:t>항목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Malgun Gothic"/>
                        </a:rPr>
                        <a:t>내용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latin typeface="Malgun Gothic"/>
                        </a:rPr>
                        <a:t>문제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latin typeface="Malgun Gothic"/>
                        </a:rPr>
                        <a:t>변호사·법원·법률구조 자원의 지역별 접근성 불균형 정량화</a:t>
                      </a:r>
                    </a:p>
                  </a:txBody>
                  <a:tcPr anchor="ctr"/>
                </a:tc>
              </a:tr>
              <a:tr h="701040"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latin typeface="Malgun Gothic"/>
                        </a:rPr>
                        <a:t>방법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latin typeface="Malgun Gothic"/>
                        </a:rPr>
                        <a:t>3개 차원(A1 변호사·A2 사건부담·A3 취약계층) → 단일 지수 LLAI(0~100)</a:t>
                      </a:r>
                    </a:p>
                  </a:txBody>
                  <a:tcPr anchor="ctr"/>
                </a:tc>
              </a:tr>
              <a:tr h="701040"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latin typeface="Malgun Gothic"/>
                        </a:rPr>
                        <a:t>데이터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latin typeface="Malgun Gothic"/>
                        </a:rPr>
                        <a:t>변협·사법연감·공단·KOSIS / 13권역·10도단위 / 기준 2024</a:t>
                      </a:r>
                    </a:p>
                  </a:txBody>
                  <a:tcPr anchor="ctr"/>
                </a:tc>
              </a:tr>
              <a:tr h="701040"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latin typeface="Malgun Gothic"/>
                        </a:rPr>
                        <a:t>핵심 발견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latin typeface="Malgun Gothic"/>
                        </a:rPr>
                        <a:t>① 서울 일극(91 vs 2~24) ② 변호사↑→부담↓(r=−0.85) ③ 수도권우위=서울단독 ④ 변호사 3.4배↑에도 서울집중 71%→76%</a:t>
                      </a:r>
                    </a:p>
                  </a:txBody>
                  <a:tcPr anchor="ctr"/>
                </a:tc>
              </a:tr>
              <a:tr h="701040"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latin typeface="Malgun Gothic"/>
                        </a:rPr>
                        <a:t>결론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latin typeface="Malgun Gothic"/>
                        </a:rPr>
                        <a:t>인구 대비·사건부담이 접근성 좌우 / 양적 팽창만으론 격차 해소 안 됨</a:t>
                      </a:r>
                    </a:p>
                  </a:txBody>
                  <a:tcPr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1. 왜 이 문제인가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로스쿨 도입(2009) 이후 변호사 4만 명 시대 — 자원은 어디에 있나?</a:t>
            </a:r>
          </a:p>
          <a:p>
            <a:pPr lvl="1"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– 서울·수도권 집중 vs 지방 부족, 취약계층 사각지대 우려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법률 서비스 접근성의 지역 불균형 = 사법 정의와 직결된 사회 문제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연구 질문: 어느 지역이, 얼마나 법적 보호에서 소외되는가?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2. 접근 방법 — 종합 법률 접근성 지수(LLAI)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3개 차원을 하나의 지수로 통합 (0~100점)</a:t>
            </a:r>
          </a:p>
          <a:p>
            <a:pPr lvl="1"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  <a:latin typeface="Malgun Gothic"/>
              </a:rPr>
              <a:t>– A1 변호사 접근성 — 인구 10만 명당 변호사 수 (↑ 좋음)</a:t>
            </a:r>
          </a:p>
          <a:p>
            <a:pPr lvl="1"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  <a:latin typeface="Malgun Gothic"/>
              </a:rPr>
              <a:t>– A2 사건 부담 — 변호사 1인당 법원 본안사건 수 (↓ 좋음)</a:t>
            </a:r>
          </a:p>
          <a:p>
            <a:pPr lvl="1"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  <a:latin typeface="Malgun Gothic"/>
              </a:rPr>
              <a:t>– A3 취약계층 접근성 — 법률구조 건수 / 저소득층 (↑ 좋음)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LLAI = w₁·A1n + w₂·(1−A2n) + w₃·A3n</a:t>
            </a:r>
          </a:p>
          <a:p>
            <a:pPr lvl="1"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  <a:latin typeface="Malgun Gothic"/>
              </a:rPr>
              <a:t>– A1n·A2n·A3n = 각 지표를 0~1로 맞춘 값 (전국 최하=0, 최고=1)</a:t>
            </a:r>
          </a:p>
          <a:p>
            <a:pPr lvl="1"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  <a:latin typeface="Malgun Gothic"/>
              </a:rPr>
              <a:t>– A2는 '적을수록 좋아서' 1에서 빼(1−A2n) 방향을 통일</a:t>
            </a:r>
          </a:p>
          <a:p>
            <a:pPr lvl="1"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  <a:latin typeface="Malgun Gothic"/>
              </a:rPr>
              <a:t>– w = 가중치(중요도). 균등·엔트로피·PCA 3종으로 강건성 확인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3. 분석 파이프라인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2468880"/>
            <a:ext cx="1627632" cy="1371600"/>
          </a:xfrm>
          <a:prstGeom prst="roundRect">
            <a:avLst/>
          </a:prstGeom>
          <a:solidFill>
            <a:srgbClr val="1F3A5F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원천 데이터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변협·사법연감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공단·KOSIS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67712" y="2880360"/>
            <a:ext cx="3200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>
                <a:solidFill>
                  <a:srgbClr val="C44E52"/>
                </a:solidFill>
                <a:latin typeface="Malgun Gothic"/>
              </a:rPr>
              <a:t>▶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23744" y="2468880"/>
            <a:ext cx="1627632" cy="1371600"/>
          </a:xfrm>
          <a:prstGeom prst="roundRect">
            <a:avLst/>
          </a:prstGeom>
          <a:solidFill>
            <a:srgbClr val="1F3A5F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수집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스크래핑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다운로드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51376" y="2880360"/>
            <a:ext cx="3200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>
                <a:solidFill>
                  <a:srgbClr val="C44E52"/>
                </a:solidFill>
                <a:latin typeface="Malgun Gothic"/>
              </a:rPr>
              <a:t>▶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07408" y="2468880"/>
            <a:ext cx="1627632" cy="1371600"/>
          </a:xfrm>
          <a:prstGeom prst="roundRect">
            <a:avLst/>
          </a:prstGeom>
          <a:solidFill>
            <a:srgbClr val="1F3A5F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정제 tidy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인코딩·가로→세로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시도명 표준화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2880360"/>
            <a:ext cx="3200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>
                <a:solidFill>
                  <a:srgbClr val="C44E52"/>
                </a:solidFill>
                <a:latin typeface="Malgun Gothic"/>
              </a:rPr>
              <a:t>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2468880"/>
            <a:ext cx="1627632" cy="1371600"/>
          </a:xfrm>
          <a:prstGeom prst="roundRect">
            <a:avLst/>
          </a:prstGeom>
          <a:solidFill>
            <a:srgbClr val="1F3A5F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권역 매핑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13권역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10도단위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18704" y="2880360"/>
            <a:ext cx="3200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>
                <a:solidFill>
                  <a:srgbClr val="C44E52"/>
                </a:solidFill>
                <a:latin typeface="Malgun Gothic"/>
              </a:rPr>
              <a:t>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74736" y="2468880"/>
            <a:ext cx="1627632" cy="1371600"/>
          </a:xfrm>
          <a:prstGeom prst="roundRect">
            <a:avLst/>
          </a:prstGeom>
          <a:solidFill>
            <a:srgbClr val="1F3A5F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패널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권역×연도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02368" y="2880360"/>
            <a:ext cx="3200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>
                <a:solidFill>
                  <a:srgbClr val="C44E52"/>
                </a:solidFill>
                <a:latin typeface="Malgun Gothic"/>
              </a:rPr>
              <a:t>▶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058400" y="2468880"/>
            <a:ext cx="1627632" cy="1371600"/>
          </a:xfrm>
          <a:prstGeom prst="roundRect">
            <a:avLst/>
          </a:prstGeom>
          <a:solidFill>
            <a:srgbClr val="C44E52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LLAI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정규화·가중치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2976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각 단계는 src/ 모듈로 구현 — 재현 가능 (notebooks/01~04)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LLAI 산출 후 → 클러스터링 · 가설검정(H1~H4) · 코로플레스 지도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4. 데이터 5종과 두 가지 난관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출처: 변협(스크랩)·사법연감·법률구조공단·KOSIS·시도경계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난관 1 — 출처별 지역 단위 불일치 → region13 / region10 두 단위 병행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난관 2 — 공단 PDF·변협 다운로드 불가 → KOSIS 우회 + 웹 스크래핑</a:t>
            </a:r>
          </a:p>
          <a:p>
            <a:pPr lvl="1"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– 신뢰성 검증: 법원관내 인구 합 = KOSIS 인구와 정확히 일치</a:t>
            </a:r>
          </a:p>
          <a:p>
            <a:pPr lvl="1"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– 본안사건 합 1,106,526 = 사법연감 전국 본안과 일치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5. 데이터 수집 · raw data 정제 방법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[수집] 출처별 방식이 달라 두 갈래</a:t>
            </a:r>
          </a:p>
          <a:p>
            <a:pPr lvl="1"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변협 회원현황: 웹 스크래핑(urllib + HTML 표 파싱) — 다운로드 미지원</a:t>
            </a:r>
          </a:p>
          <a:p>
            <a:pPr lvl="1"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KOSIS·공단·사법연감: 엑셀/CSV 다운로드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[정제] raw → tidy 파이프라인 (src/prepare)</a:t>
            </a:r>
          </a:p>
          <a:p>
            <a:pPr lvl="1"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인코딩 자동판별, 가로형→세로형 변환·다중헤더 파싱</a:t>
            </a:r>
          </a:p>
          <a:p>
            <a:pPr lvl="1"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시도명 표준화(옛/신), 지역단위 매핑(14지방회·법원관내·도단위→권역)</a:t>
            </a:r>
          </a:p>
          <a:p>
            <a:pPr lvl="1"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공단 반기→연 합산, 사법연감 '본안사건' 추출(비송 제외)</a:t>
            </a:r>
          </a:p>
          <a:p>
            <a:pPr lvl="1"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결측·이상치 처리 → 권역×연도 패널 → 합계 교차검증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데이터 규모와 성격 — 얼마나 '빅'데이터인가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17320"/>
          <a:ext cx="1106424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3657600"/>
                <a:gridCol w="2743200"/>
                <a:gridCol w="228600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출처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형식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규모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기간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사법연감(법원)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엑셀 19파일·다중시트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약 140만 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2024</a:t>
                      </a:r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KOSIS 기초수급자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CSV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6,589행 × 22열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2009~24</a:t>
                      </a:r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KOSIS 인구·GRDP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CSV 가로형(다중헤더)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20행 × 55~61열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2008~25</a:t>
                      </a:r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공단 법률구조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엑셀(반기)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민사·형사 2파일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2012~25</a:t>
                      </a:r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변협 회원현황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웹 스크래핑(HTML)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14행(스냅샷)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현재</a:t>
                      </a:r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시도 경계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GeoJSON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17폴리곤 · 7.5MB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2018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16052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• 원천 ~155만 셀 → 정제 → 분석패널 234·180행 → LLAI 횡단면 13행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• Volume(양)은 중간 — 핵심은 Variety(5출처·4형식)·Veracity(이종 지역단위 정합)</a:t>
            </a:r>
          </a:p>
          <a:p>
            <a:pPr lvl="1">
              <a:spcAft>
                <a:spcPts val="800"/>
              </a:spcAft>
            </a:pPr>
            <a:r>
              <a:rPr sz="1400">
                <a:solidFill>
                  <a:srgbClr val="222222"/>
                </a:solidFill>
                <a:latin typeface="Malgun Gothic"/>
              </a:rPr>
              <a:t>– 작업 무게중심 = 수집·정제(ETL) 파이프라인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6. LLAI는 어떻게 계산되나 — 예시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각 지표를 0~1로 맞추고(n), A2는 1에서 빼 방향 통일 → 가중평균 ×100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LLAI = 0.69·A1n + 0.14·(1−A2n) + 0.17·A3n  (가중치는 엔트로피 방식)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828800" y="3063240"/>
          <a:ext cx="82296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645920"/>
                <a:gridCol w="1645920"/>
                <a:gridCol w="1645920"/>
                <a:gridCol w="1645920"/>
              </a:tblGrid>
              <a:tr h="51816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Malgun Gothic"/>
                        </a:rPr>
                        <a:t>권역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Malgun Gothic"/>
                        </a:rPr>
                        <a:t>A1n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Malgun Gothic"/>
                        </a:rPr>
                        <a:t>1−A2n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Malgun Gothic"/>
                        </a:rPr>
                        <a:t>A3n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Malgun Gothic"/>
                        </a:rPr>
                        <a:t>LLAI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latin typeface="Malgun Gothic"/>
                        </a:rPr>
                        <a:t>서울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latin typeface="Malgun Gothic"/>
                        </a:rPr>
                        <a:t>1.00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latin typeface="Malgun Gothic"/>
                        </a:rPr>
                        <a:t>1.00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latin typeface="Malgun Gothic"/>
                        </a:rPr>
                        <a:t>0.48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latin typeface="Malgun Gothic"/>
                        </a:rPr>
                        <a:t>91.1</a:t>
                      </a:r>
                    </a:p>
                  </a:txBody>
                  <a:tcPr anchor="ctr"/>
                </a:tc>
              </a:tr>
              <a:tr h="518160"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latin typeface="Malgun Gothic"/>
                        </a:rPr>
                        <a:t>강원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latin typeface="Malgun Gothic"/>
                        </a:rPr>
                        <a:t>0.00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latin typeface="Malgun Gothic"/>
                        </a:rPr>
                        <a:t>0.00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latin typeface="Malgun Gothic"/>
                        </a:rPr>
                        <a:t>0.09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latin typeface="Malgun Gothic"/>
                        </a:rPr>
                        <a:t>1.6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489204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표의 1.00 = '전국에서 가장 좋음', 0.00 = '가장 나쁨' (n은 0~1 값)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서울: 변호사·사건부담 두 축 모두 1.00 → 거의 만점 / 강원: 둘 다 0 → 바닥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분석 기법 한눈에 (무엇·어떻게·왜)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24712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4937760"/>
                <a:gridCol w="4480560"/>
              </a:tblGrid>
              <a:tr h="5080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기법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무엇을 / 어떻게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왜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정규화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지표를 0~1로 통일 (A2는 뒤집음)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단위 통일 · 0~100 직관 해석</a:t>
                      </a:r>
                    </a:p>
                  </a:txBody>
                  <a:tcPr anchor="ctr"/>
                </a:tc>
              </a:tr>
              <a:tr h="50800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가중치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세 지표 합칠 비중 정하기 (균등·엔트로피·PCA)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비중 자의성 → 강건성 확인</a:t>
                      </a:r>
                    </a:p>
                  </a:txBody>
                  <a:tcPr anchor="ctr"/>
                </a:tc>
              </a:tr>
              <a:tr h="50800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LLAI 합성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정규화 지표 가중평균 ×100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단순·투명한 점수</a:t>
                      </a:r>
                    </a:p>
                  </a:txBody>
                  <a:tcPr anchor="ctr"/>
                </a:tc>
              </a:tr>
              <a:tr h="50800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상관 보기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두 값이 같이 움직이나 (Pearson·Spearman)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이상치(서울) 대비 교차 확인</a:t>
                      </a:r>
                    </a:p>
                  </a:txBody>
                  <a:tcPr anchor="ctr"/>
                </a:tc>
              </a:tr>
              <a:tr h="50800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집단 비교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두 집단 차이 검정 (Mann-Whitney)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표본 작아 → 분포가정 없는 법</a:t>
                      </a:r>
                    </a:p>
                  </a:txBody>
                  <a:tcPr anchor="ctr"/>
                </a:tc>
              </a:tr>
              <a:tr h="50800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군집화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비슷한 권역끼리 묶기 (K-means)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유형 그룹화 · 묶음 수 객관 선정</a:t>
                      </a:r>
                    </a:p>
                  </a:txBody>
                  <a:tcPr anchor="ctr"/>
                </a:tc>
              </a:tr>
              <a:tr h="50800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쏠림 측정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한 곳 집중 정도 수치화 (HHI·변동계수)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집중·격차 변화 직접 측정</a:t>
                      </a:r>
                    </a:p>
                  </a:txBody>
                  <a:tcPr anchor="ctr"/>
                </a:tc>
              </a:tr>
              <a:tr h="50800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지도화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경계 합쳐 색칠 (코로플레스)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격차를 한눈에 전달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612648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i="1">
                <a:solidFill>
                  <a:srgbClr val="555555"/>
                </a:solidFill>
                <a:latin typeface="Malgun Gothic"/>
              </a:rPr>
              <a:t>※ 괄호 안은 사용한 표준 통계·기계학습 도구 이름 — 몰라도 됨. 핵심은 '무엇을·왜'.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7. 결과 ① — LLAI 순위 (region13, 2024)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1_llai_ranking_region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6933804" cy="4297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49440" y="1828800"/>
            <a:ext cx="49377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서울 91 ≫ 압도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울산·제주 2·3위</a:t>
            </a:r>
          </a:p>
          <a:p>
            <a:pPr lvl="1"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– (인구 적어 1인당 양호)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인천은 하위권</a:t>
            </a:r>
          </a:p>
          <a:p>
            <a:pPr lvl="1"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– (사건부담 높음)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8932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55555"/>
                </a:solidFill>
                <a:latin typeface="Malgun Gothic"/>
              </a:rPr>
              <a:t>📊 읽는 법 — 막대 길이=LLAI 점수, 색=클러스터. 서울만 홀로 길고 파랑(별도 그룹), 나머지는 짧고 빨강.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7. 결과 ② — 코로플레스 지도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7_map_region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0" y="1371600"/>
            <a:ext cx="5525669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98932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55555"/>
                </a:solidFill>
                <a:latin typeface="Malgun Gothic"/>
              </a:rPr>
              <a:t>📊 읽는 법 — 파랑=고접근성, 빨강=저접근성. 서울만 파랑, 전국이 붉음 → 서울 일극 집중.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8. 가설 H2 — 변호사 ↔ 사건 부담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2_scatter_a1_a2_region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5346315" cy="4206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0" y="1737360"/>
            <a:ext cx="48463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변호사 많을수록 1인당 사건부담 ↓</a:t>
            </a:r>
          </a:p>
          <a:p>
            <a:pPr lvl="1"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  <a:latin typeface="Malgun Gothic"/>
              </a:rPr>
              <a:t>– 상관계수 r = −0.85</a:t>
            </a:r>
          </a:p>
          <a:p>
            <a:pPr lvl="1"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  <a:latin typeface="Malgun Gothic"/>
              </a:rPr>
              <a:t>– r이 음수(−) = 한쪽 늘면 다른 쪽 줆</a:t>
            </a:r>
          </a:p>
          <a:p>
            <a:pPr lvl="1"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  <a:latin typeface="Malgun Gothic"/>
              </a:rPr>
              <a:t>– → '바람직한' 관계 (변호사 많으면 덜 바쁨)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서울은 우하단 극단 이상치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8932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55555"/>
                </a:solidFill>
                <a:latin typeface="Malgun Gothic"/>
              </a:rPr>
              <a:t>📊 읽는 법 — 오른쪽 아래로 갈수록 좋음. 서울은 맨 오른쪽 아래, 비수도권은 왼쪽 위에 뭉침.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9. 가설 H4 — 양적 팽창의 함정 ★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8_lawyer_tr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7072970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680960" y="1737360"/>
            <a:ext cx="42976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변호사 3.4배↑</a:t>
            </a:r>
          </a:p>
          <a:p>
            <a:pPr lvl="1"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9,612 → 32,273명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서울 비중 71%→76%↑</a:t>
            </a:r>
          </a:p>
          <a:p>
            <a:pPr lvl="1"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비수도권 全 권역 하락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쏠림(HHI) 0.53→0.60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8932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55555"/>
                </a:solidFill>
                <a:latin typeface="Malgun Gothic"/>
              </a:rPr>
              <a:t>📊 읽는 법 — 권역별 점유율 2009(회색) vs 2026(빨강). 서울만 커지고 나머지는 줄거나 정체.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10. 심화 — 서울을 빼고 보면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7_map_region13_exseo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463040"/>
            <a:ext cx="5304642" cy="4389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0" y="1828800"/>
            <a:ext cx="48463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부산·울산·제주 상위 부상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경기·인천은 중하위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핵심: '수도권 우위'는</a:t>
            </a:r>
          </a:p>
          <a:p>
            <a:pPr lvl="1"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– 사실상 서울 단독 현상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8932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55555"/>
                </a:solidFill>
                <a:latin typeface="Malgun Gothic"/>
              </a:rPr>
              <a:t>📊 읽는 법 — 서울 제외·재정규화(서울 회색). 색 범위 재조정 → 지방 내부 격차가 보임.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11. 가설 검정 종합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H2 ✅ 강하게 지지 — 변호사 많을수록 사건부담↓ (r=−0.85)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H4 ✅ 지지 — 변호사 3.4배↑에도 서울 집중 심화 + 법률구조 격차 확대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H1 △ 방향만 일치 — 수도권 1인당 인구 적음, 단 표본 작아 비유의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H3 △ 약함 — 소득(GRDP)과 접근성 상관 약함</a:t>
            </a:r>
          </a:p>
          <a:p>
            <a:pPr lvl="1"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– 표본 작음(권역 10~13개) → 통계 검정력 한계 명시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12. 결론 · 정책 시사점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변호사 자원의 서울 일극 집중이 격차의 핵심 동인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인구 대비·사건부담이 접근성을 좌우 (인천=수도권인데 하위)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양적 팽창만으로는 격차 해소 안 됨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정책 제언</a:t>
            </a:r>
          </a:p>
          <a:p>
            <a:pPr lvl="1"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– 지방 변호사 유치 인센티브 / 공단 자원 비수도권 우선 배치</a:t>
            </a:r>
          </a:p>
          <a:p>
            <a:pPr lvl="1"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– 사건부담 높은 권역 인력 보강 / 로스쿨 정원·배치 연계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13. 한계와 향후 과제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변호사 2시점(2009·현재) — 연속 시계열은 변호사백서 PDF 보강 필요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표본이 작아 통계적 검정력 제한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A3 공단 10도단위 → region13에선 인구비 근사배분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향후: 코로플레스 대시보드 고도화, 시계열 LLAI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연구 범위 · 선행연구 차용 여부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본 분석은 26-1 빅데이터컴퓨팅 기말 프로젝트로 직접 수행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선행연구(타인) 차용: 없음 — 설계·수집·정제·분석·시각화 전부 자체 개발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본인 이전 연구 차용: 없음 — 방법론 골격은 본 과목 제안서에서 설계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외부 차용은 '공개 raw data·경계 파일'뿐, 모두 출처 명시</a:t>
            </a:r>
          </a:p>
          <a:p>
            <a:pPr lvl="1"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  <a:latin typeface="Malgun Gothic"/>
              </a:rPr>
              <a:t>– KOSIS·사법연감·공단·변협 / GeoJSON / 2009 변호사분포(법률저널)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→ 데이터는 차용, 수집·정제·지수개발·분석·해석은 100% 본 프로젝트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부록 — region13 전체 결과표 (2024)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017520" y="1554480"/>
          <a:ext cx="6126480" cy="484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25296"/>
                <a:gridCol w="1225296"/>
                <a:gridCol w="1225296"/>
                <a:gridCol w="1225296"/>
                <a:gridCol w="1225296"/>
              </a:tblGrid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권역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A1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A2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A3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LLAI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서울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263.3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16.2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0.05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91.1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울산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23.0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89.2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0.07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24.2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제주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23.0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96.0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0.07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23.3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부산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37.0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53.5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0.04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19.1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경기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13.8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106.7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0.05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11.7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경남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13.0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103.3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0.05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11.5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광주권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19.7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94.5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0.04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10.3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대전권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20.5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82.4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0.04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9.7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대구권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17.3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92.4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0.04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9.2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전북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18.5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85.7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0.04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8.8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인천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24.8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108.7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0.03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5.0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충북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14.6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107.6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0.04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4.2</a:t>
                      </a:r>
                    </a:p>
                  </a:txBody>
                  <a:tcPr anchor="ctr"/>
                </a:tc>
              </a:tr>
              <a:tr h="34617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강원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12.7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121.0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0.04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1.6</a:t>
                      </a:r>
                    </a:p>
                  </a:txBody>
                  <a:tcPr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부록 A — 방법론 선택의 근거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왜 17시도가 아닌 두 단위(13권역/10도단위)인가</a:t>
            </a:r>
          </a:p>
          <a:p>
            <a:pPr lvl="1"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변호사·법률구조가 광역시를 도에 묶어 제공 → 시도 분리 불가</a:t>
            </a:r>
          </a:p>
          <a:p>
            <a:pPr lvl="1"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두 단위 결론 일치(서울 1위·강원 최하) → 단위 선택에 무관함 입증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왜 '본안사건'인가 — 전체의 60%가 등기·공탁(비송) → 실질 소송만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왜 가중치 3종 — 자의성 방지, 어떤 방식이든 서울 1위(강건성)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왜 정규화·방향보정 — 단위 통일(명·건·비율), '클수록 좋음' 일치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부록 B — 용어 정리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63040"/>
          <a:ext cx="1106424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8686800"/>
              </a:tblGrid>
              <a:tr h="493776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용어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뜻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Malgun Gothic"/>
                        </a:rPr>
                        <a:t>본안사건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Malgun Gothic"/>
                        </a:rPr>
                        <a:t>권리·의무를 본격 판단하는 소송(민사본안·형사공판·가사). 변호사 업무량 핵심</a:t>
                      </a:r>
                    </a:p>
                  </a:txBody>
                  <a:tcPr anchor="ctr"/>
                </a:tc>
              </a:tr>
              <a:tr h="493776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Malgun Gothic"/>
                        </a:rPr>
                        <a:t>비송사건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Malgun Gothic"/>
                        </a:rPr>
                        <a:t>등기·공탁 등 분쟁 판단이 아닌 절차 사건 → A2에서 제외</a:t>
                      </a:r>
                    </a:p>
                  </a:txBody>
                  <a:tcPr anchor="ctr"/>
                </a:tc>
              </a:tr>
              <a:tr h="493776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Malgun Gothic"/>
                        </a:rPr>
                        <a:t>개업변호사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Malgun Gothic"/>
                        </a:rPr>
                        <a:t>실제 영업 중인 변호사(휴업·미개업 제외). A1 분자</a:t>
                      </a:r>
                    </a:p>
                  </a:txBody>
                  <a:tcPr anchor="ctr"/>
                </a:tc>
              </a:tr>
              <a:tr h="493776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Malgun Gothic"/>
                        </a:rPr>
                        <a:t>법률구조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Malgun Gothic"/>
                        </a:rPr>
                        <a:t>경제적 약자 대상 무료·저비용 법률 지원(공단). A3 분자</a:t>
                      </a:r>
                    </a:p>
                  </a:txBody>
                  <a:tcPr anchor="ctr"/>
                </a:tc>
              </a:tr>
              <a:tr h="493776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Malgun Gothic"/>
                        </a:rPr>
                        <a:t>기초생활수급자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Malgun Gothic"/>
                        </a:rPr>
                        <a:t>국민기초생활보장 수급자 = '저소득층' 대리지표(A3 분모)</a:t>
                      </a:r>
                    </a:p>
                  </a:txBody>
                  <a:tcPr anchor="ctr"/>
                </a:tc>
              </a:tr>
              <a:tr h="493776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Malgun Gothic"/>
                        </a:rPr>
                        <a:t>엔트로피 가중치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Malgun Gothic"/>
                        </a:rPr>
                        <a:t>지역 간 차이(정보량)가 큰 지표에 큰 가중치를 주는 객관적 가중법</a:t>
                      </a:r>
                    </a:p>
                  </a:txBody>
                  <a:tcPr anchor="ctr"/>
                </a:tc>
              </a:tr>
              <a:tr h="493776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Malgun Gothic"/>
                        </a:rPr>
                        <a:t>HHI(허핀달지수)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Malgun Gothic"/>
                        </a:rPr>
                        <a:t>점유율 제곱의 합(0~1). 클수록 특정 지역 집중 심화 = '쏠림'</a:t>
                      </a:r>
                    </a:p>
                  </a:txBody>
                  <a:tcPr anchor="ctr"/>
                </a:tc>
              </a:tr>
              <a:tr h="493776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Malgun Gothic"/>
                        </a:rPr>
                        <a:t>변동계수(CV)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Malgun Gothic"/>
                        </a:rPr>
                        <a:t>표준편차 ÷ 평균. 단위 무관한 상대적 격차 크기</a:t>
                      </a:r>
                    </a:p>
                  </a:txBody>
                  <a:tcPr anchor="ctr"/>
                </a:tc>
              </a:tr>
              <a:tr h="493776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Malgun Gothic"/>
                        </a:rPr>
                        <a:t>K-means / Silhouette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Malgun Gothic"/>
                        </a:rPr>
                        <a:t>비슷한 것끼리 묶기 / 잘 묶였는지 점수(묶음 수 결정)</a:t>
                      </a:r>
                    </a:p>
                  </a:txBody>
                  <a:tcPr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37744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F3A5F"/>
                </a:solidFill>
                <a:latin typeface="Malgun Gothic"/>
              </a:rPr>
              <a:t>감사합니다</a:t>
            </a:r>
          </a:p>
          <a:p>
            <a:r>
              <a:rPr sz="2000">
                <a:solidFill>
                  <a:srgbClr val="C44E52"/>
                </a:solidFill>
                <a:latin typeface="Malgun Gothic"/>
              </a:rPr>
              <a:t>코드·노트북·인터랙티브 지도: github.com/Allenkeem/llai-project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