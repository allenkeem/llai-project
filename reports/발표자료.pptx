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7" r:id="rId28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5" r:id="rId26"/>
    <p:sldId id="276" r:id="rId27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2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분석은 26-1 빅데이터컴퓨팅 기말 프로젝트로 직접 수행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선행연구(타인) 차용: 없음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LLAI 지수 설계·수집·정제·분석·시각화 코드 전부 자체 개발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본인 이전 연구 차용: 없음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분석 주제·방법론 골격은 본 과목 제안서에서 직접 설계 → 기말에 구현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외부에서 가져온 것은 '공개 raw data'와 '경계 파일'뿐 (모두 출처 명시)</a:t>
            </a:r>
          </a:p>
          <a:p>
            <a:pPr lvl="1">
              <a:spcAft>
                <a:spcPts val="9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KOSIS·사법연감·법률구조공단·대한변협 / GeoJSON / 2009 변호사분포(법률저널)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→ 데이터는 차용, 수집·정제·지수개발·분석·해석은 100% 본 프로젝트 수행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약 140만 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CSV 가로형(다중헤더)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엑셀(반기)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14행(스냅샷)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GeoJSON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17폴리곤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셀 → 정제 → 분석패널 234·180행 → LLAI 횡단면 13행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Volume(양)은 중간 — 핵심은 Variety(5출처·4형식)·Veracity(이종 지역단위 정합)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작업 무게중심 = 수집·정제(ETL) 파이프라인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방법론: 데이터엔지니어링(ETL) · 합성지표 · 가설검정 · 군집(K-means) · 공간시각화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핵심 요약 — 한 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8813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algun 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문제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변호사·법원·법률구조 자원의 지역별 접근성 불균형 정량화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방법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3개 차원(A1 변호사·A2 사건부담·A3 취약계층) → 단일 지수 LLAI(0~100)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변협·사법연감·공단·KOSIS / 13권역·10도단위 / 기준 2024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핵심 발견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① 서울 일극(91 vs 2~24) ② 변호사↑→부담↓(r=−0.85) ③ 수도권우위=서울단독 ④ 변호사 3.4배↑에도 서울집중 71%→76%</a:t>
                      </a:r>
                    </a:p>
                  </a:txBody>
                  <a:tcPr anchor="ctr"/>
                </a:tc>
              </a:tr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결론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latin typeface="Malgun Gothic"/>
                        </a:rPr>
                        <a:t>인구 대비·사건부담이 접근성 좌우 / 양적 팽창만으론 격차 해소 안 됨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그런데 자원은 어디에 있나?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2. 접근 방법 — 종합 법률 접근성 지수(LLAI)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3개 차원을 하나의 지수로 통합 (0~100)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A1 변호사 접근성 — 인구 10만 명당 변호사 수 (↑ 좋음)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A2 사건 부담 — 변호사 1인당 법원 본안사건 수 (↓ 좋음)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A3 취약계층 접근성 — 법률구조 건수 / 저소득층 (↑ 좋음)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= w₁·A1n + w₂·(1−A2n) + w₃·A3n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가중치 3종(균등·엔트로피·PCA) 병기로 강건성 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67712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376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18704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2880360"/>
            <a:ext cx="3200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클러스터링 · 가설검정(H1~H4) · 코로플레스 지도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단위 불일치 → region13 / region10 두 단위 병행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 PDF·변협 다운로드 불가 → KOSIS 우회 + 웹 스크래핑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법원관내 인구 합 = KOSIS 인구와 정확히 일치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본안사건 합 1,106,526 = 사법연감 전국 본안과 일치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5. 데이터 수집 · raw data 정제 방법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스크래핑(urllib + HTML 표 파싱) — 다운로드 미지원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raw → tidy 파이프라인 (src/prepare)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인코딩 자동판별, 가로형→세로형 변환·다중헤더 파싱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시도명 표준화(옛/신 명칭), 지역단위 매핑(14지방회·법원관내·도단위 → 권역)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공단 반기→연 합산, 사법연감 '본안사건' 추출(비송 제외)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결측·이상치 처리 → 권역×연도 패널 → 합계 교차검증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6. LLAI는 어떻게 계산되나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전국 최소=0·최대=1로 정규화(A2는 1−값) 후 가중 평균 ×100</a:t>
            </a:r>
          </a:p>
          <a:p>
            <a:pPr>
              <a:spcAft>
                <a:spcPts val="9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LLAI = 0.69·A1n + 0.14·(1−A2n) + 0.17·A3n  (엔트로피 가중치)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28800" y="301752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A1n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1−A2n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A3n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1.00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변호사·사건부담 두 축 모두 전국 최상(1.0) → 거의 만점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최하(0) → 바닥. LLAI는 '전국 상대 위치'를 의미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7. 결과 ① — LLAI 순위 (region13, 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 ≫ 압도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(인구 적어 1인당 양호)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(사건부담 높음)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막대 길이=LLAI, 색=클러스터. 서울만 홀로 길고 파랑(별도 그룹).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7. 결과 ② — 코로플레스 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파랑=고접근성, 빨강=저접근성.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8. 가설 H2 — 변호사 ↔ 사건 부담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강한 음의 상관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r = −0.84 ~ −0.88 (p&lt;0.01)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→ 1인당 부담 폭증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서울은 우하단 극단 이상치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비수도권은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9. 가설 H4 — 양적 팽창의 함정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 비중 71%→76%↑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비수도권 全 권역 하락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HHI 0.53→0.60 심화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10. 심화 — 서울을 빼고 보면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 부상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핵심: '수도권 우위'는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사실상 서울 단독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제외·재정규화(서울 회색). 색 범위 재조정 →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H2 ✅ 강하게 지지 — corr(A1,A2) = −0.84~−0.88 (p&lt;0.01)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H4 ✅ 지지 — 변호사 3.4배↑에도 서울 집중 심화 + 법률구조 격차 확대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H1 △ 방향만 일치 — 수도권 1인당 인구 4,039 &lt; 비수도권 5,250 (p=0.19)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H3 △ 약함 — GRDP와 접근성 상관 비유의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표본 작음(권역 10~13개) → 검정력 한계 명시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자원의 서울 일극 집중이 격차의 핵심 동인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인구 대비·사건부담이 접근성을 좌우 (인천=수도권인데 하위)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양적 팽창만으로는 격차 해소 안 됨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정책 제언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지방 변호사 유치 인센티브 / 공단 자원 비수도권 우선 배치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사건부담 높은 권역 인력 보강 / 로스쿨 정원·배치 연계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2시점(2009·현재) — 연속 시계열은 변호사백서 PDF 보강 필요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표본이 작아 통계적 검정력 제한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A3 공단 10도단위 → region13에선 인구비 근사배분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향후: 코로플레스 대시보드 고도화, 시계열 LLAI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60320" y="1554480"/>
          <a:ext cx="70408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8176"/>
                <a:gridCol w="1408176"/>
                <a:gridCol w="1408176"/>
                <a:gridCol w="1408176"/>
                <a:gridCol w="1408176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LLAI(엔트로피)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변호사(변협 14지방회)·법률구조(공단 10도단위)가 광역시를 도에 묶어 제공 → 시도 분리 불가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결론이 일치(서울 1위·강원 최하)하면 단위 선택에 무관함을 입증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(A2)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전체 법원사건의 약 60%가 등기·공탁(비송) → 변호사 업무량 왜곡 → 실질 소송(본안)만 사용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3종(균등·엔트로피·PCA)인가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가중치 자의성 방지 — 어떤 방식이든 서울 1위·강원 최하(강건성) 확인</a:t>
            </a:r>
          </a:p>
          <a:p>
            <a:pPr>
              <a:spcAft>
                <a:spcPts val="9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정규화·방향 보정인가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단위 상이(명·건·비율) → 0~1 통일, A2는 1−값으로 '클수록 좋음' 일치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뜻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권리·의무를 본격 판단하는 소송(민사본안·형사공판·가사). 변호사 업무량 핵심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 등 분쟁 판단이 아닌 절차 사건 → A2에서 제외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변호사(휴업·미개업 제외). A1 분자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경제적 약자 대상 무료·저비용 법률 지원(법률구조공단). A3 분자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기초생활수급자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국민기초생활보장 수급자 = '저소득층' 대리지표(A3 분모)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1인당 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지역내총생산 ÷ 인구. 지역 소득수준(H3 변수)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값을 전국 최소0~최대1로 변환해 단위 다른 지표를 합산 가능하게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 간 차이(정보량)가 큰 지표에 큰 가중치를 주는 객관적 가중법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PCA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여러 지표의 공통 변동 축(주성분)을 찾아 가중치로 활용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HHI(허핀달지수)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점유율 제곱의 합(0~1). 클수록 특정 지역 집중 심화</a:t>
                      </a:r>
                    </a:p>
                  </a:txBody>
                  <a:tcPr anchor="ctr"/>
                </a:tc>
              </a:tr>
              <a:tr h="37982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변동계수(CV)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표준편차 ÷ 평균. 단위 무관한 상대적 격차 크기</a:t>
                      </a:r>
                    </a:p>
                  </a:txBody>
                  <a:tcPr anchor="ctr"/>
                </a:tc>
              </a:tr>
              <a:tr h="37983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K-means / Silhouette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거리 기반 군집화 / 군집 분리도(최적 K 결정)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