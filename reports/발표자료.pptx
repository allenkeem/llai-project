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  <a:latin typeface="Malgun Gothic"/>
              </a:rPr>
              <a:t>대한민국 법률 서비스 접근성 불균형 분석</a:t>
            </a:r>
          </a:p>
          <a:p>
            <a:r>
              <a:rPr sz="2200">
                <a:solidFill>
                  <a:srgbClr val="C44E52"/>
                </a:solidFill>
                <a:latin typeface="Malgun Gothic"/>
              </a:rPr>
              <a:t>지역별 종합 법률 접근성 지수(LLAI) 개발 및 격차 탐색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55555"/>
                </a:solidFill>
                <a:latin typeface="Malgun Gothic"/>
              </a:rPr>
              <a:t>서강대학교 빅데이터컴퓨팅(BDS3010) · 20210717 김찬우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연구 범위 · 선행연구 차용 여부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222222"/>
                </a:solidFill>
                <a:latin typeface="Malgun Gothic"/>
              </a:rPr>
              <a:t>• 본 분석은 26-1 빅데이터컴퓨팅 기말 프로젝트로 직접 수행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2222"/>
                </a:solidFill>
                <a:latin typeface="Malgun Gothic"/>
              </a:rPr>
              <a:t>• 선행연구(타인) 차용: 없음</a:t>
            </a:r>
          </a:p>
          <a:p>
            <a:pPr lvl="1">
              <a:spcAft>
                <a:spcPts val="900"/>
              </a:spcAft>
            </a:pPr>
            <a:r>
              <a:rPr sz="1600">
                <a:solidFill>
                  <a:srgbClr val="222222"/>
                </a:solidFill>
                <a:latin typeface="Malgun Gothic"/>
              </a:rPr>
              <a:t>– LLAI 지수 설계·수집·정제·분석·시각화 코드 전부 자체 개발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2222"/>
                </a:solidFill>
                <a:latin typeface="Malgun Gothic"/>
              </a:rPr>
              <a:t>• 본인 이전 연구 차용: 없음</a:t>
            </a:r>
          </a:p>
          <a:p>
            <a:pPr lvl="1">
              <a:spcAft>
                <a:spcPts val="900"/>
              </a:spcAft>
            </a:pPr>
            <a:r>
              <a:rPr sz="1600">
                <a:solidFill>
                  <a:srgbClr val="222222"/>
                </a:solidFill>
                <a:latin typeface="Malgun Gothic"/>
              </a:rPr>
              <a:t>– 분석 주제·방법론 골격은 본 과목 제안서에서 직접 설계 → 기말에 구현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2222"/>
                </a:solidFill>
                <a:latin typeface="Malgun Gothic"/>
              </a:rPr>
              <a:t>• 외부에서 가져온 것은 '공개 raw data'와 '경계 파일'뿐 (모두 출처 명시)</a:t>
            </a:r>
          </a:p>
          <a:p>
            <a:pPr lvl="1">
              <a:spcAft>
                <a:spcPts val="900"/>
              </a:spcAft>
            </a:pPr>
            <a:r>
              <a:rPr sz="1600">
                <a:solidFill>
                  <a:srgbClr val="222222"/>
                </a:solidFill>
                <a:latin typeface="Malgun Gothic"/>
              </a:rPr>
              <a:t>– KOSIS·사법연감·법률구조공단·대한변협 / GeoJSON / 2009 변호사분포(법률저널)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2222"/>
                </a:solidFill>
                <a:latin typeface="Malgun Gothic"/>
              </a:rPr>
              <a:t>• → 데이터는 차용, 수집·정제·지수개발·분석·해석은 100% 본 프로젝트 수행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핵심 요약 — 한 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Malgun Gothic"/>
                        </a:rPr>
                        <a:t>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Malgun Gothic"/>
                        </a:rPr>
                        <a:t>변호사·법원·법률구조 자원의 지역별 접근성 불균형 정량화</a:t>
                      </a: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Malgun Gothic"/>
                        </a:rPr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Malgun Gothic"/>
                        </a:rPr>
                        <a:t>3개 차원(A1 변호사·A2 사건부담·A3 취약계층) → 단일 지수 LLAI(0~100)</a:t>
                      </a: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Malgun Gothic"/>
                        </a:rPr>
                        <a:t>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Malgun Gothic"/>
                        </a:rPr>
                        <a:t>변협·사법연감·공단·KOSIS / 13권역·10도단위 / 기준 2024</a:t>
                      </a: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Malgun Gothic"/>
                        </a:rPr>
                        <a:t>핵심 발견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Malgun Gothic"/>
                        </a:rPr>
                        <a:t>① 서울 일극(91 vs 2~24) ② 변호사↑→부담↓(r=−0.85) ③ 수도권우위=서울단독 ④ 변호사 3.4배↑에도 서울집중 71%→76%</a:t>
                      </a:r>
                    </a:p>
                  </a:txBody>
                  <a:tcPr anchor="ctr"/>
                </a:tc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Malgun Gothic"/>
                        </a:rPr>
                        <a:t>결론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Malgun Gothic"/>
                        </a:rPr>
                        <a:t>인구 대비·사건부담이 접근성 좌우 / 양적 팽창만으론 격차 해소 안 됨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1. 왜 이 문제인가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로스쿨 도입(2009) 이후 변호사 4만 명 시대 — 그런데 자원은 어디에 있나?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서울·수도권 집중 vs 지방 부족, 취약계층 사각지대 우려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법률 서비스 접근성의 지역 불균형 = 사법 정의와 직결된 사회 문제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연구 질문: 어느 지역이, 얼마나 법적 보호에서 소외되는가?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2. 접근 방법 — 종합 법률 접근성 지수(LLAI)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3개 차원을 하나의 지수로 통합 (0~100)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A1 변호사 접근성 — 인구 10만 명당 변호사 수 (↑ 좋음)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A2 사건 부담 — 변호사 1인당 법원 본안사건 수 (↓ 좋음)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A3 취약계층 접근성 — 법률구조 건수 / 저소득층 (↑ 좋음)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LLAI = w₁·A1n + w₂·(1−A2n) + w₃·A3n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가중치 3종(균등·엔트로피·PCA) 병기로 강건성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3. 분석 파이프라인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1627632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원천 데이터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변협·사법연감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공단·KOSIS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7712" y="288036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44E52"/>
                </a:solidFill>
                <a:latin typeface="Malgun Gothic"/>
              </a:rPr>
              <a:t>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3744" y="2468880"/>
            <a:ext cx="1627632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수집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스크래핑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다운로드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1376" y="288036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44E52"/>
                </a:solidFill>
                <a:latin typeface="Malgun Gothic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2468880"/>
            <a:ext cx="1627632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정제 tidy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인코딩·가로→세로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시도명 표준화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88036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44E52"/>
                </a:solidFill>
                <a:latin typeface="Malgun Gothic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468880"/>
            <a:ext cx="1627632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권역 매핑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13권역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10도단위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8704" y="288036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44E52"/>
                </a:solidFill>
                <a:latin typeface="Malgun Gothic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2468880"/>
            <a:ext cx="1627632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패널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권역×연도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2368" y="288036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C44E52"/>
                </a:solidFill>
                <a:latin typeface="Malgun Gothic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468880"/>
            <a:ext cx="1627632" cy="1371600"/>
          </a:xfrm>
          <a:prstGeom prst="roundRect">
            <a:avLst/>
          </a:prstGeom>
          <a:solidFill>
            <a:srgbClr val="C44E52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LLAI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정규화·가중치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22222"/>
                </a:solidFill>
                <a:latin typeface="Malgun Gothic"/>
              </a:rPr>
              <a:t>• 각 단계는 src/ 모듈로 구현 — 재현 가능 (notebooks/01~04)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22222"/>
                </a:solidFill>
                <a:latin typeface="Malgun Gothic"/>
              </a:rPr>
              <a:t>• LLAI 산출 후 → 클러스터링 · 가설검정(H1~H4) · 코로플레스 지도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4. 데이터 5종과 두 가지 난관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출처: 변협(스크랩)·사법연감·법률구조공단·KOSIS·시도경계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난관 1 — 출처별 지역 단위 불일치 → region13 / region10 두 단위 병행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난관 2 — 공단 PDF·변협 다운로드 불가 → KOSIS 우회 + 웹 스크래핑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신뢰성 검증: 법원관내 인구 합 = KOSIS 인구와 정확히 일치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본안사건 합 1,106,526 = 사법연감 전국 본안과 일치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5. 데이터 수집 · raw data 정제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22222"/>
                </a:solidFill>
                <a:latin typeface="Malgun Gothic"/>
              </a:rPr>
              <a:t>• [수집] 출처별 방식이 달라 두 갈래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Malgun Gothic"/>
              </a:rPr>
              <a:t>– 변협 회원현황: 웹 스크래핑(urllib + HTML 표 파싱) — 다운로드 미지원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Malgun Gothic"/>
              </a:rPr>
              <a:t>– KOSIS·공단·사법연감: 엑셀/CSV 다운로드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22222"/>
                </a:solidFill>
                <a:latin typeface="Malgun Gothic"/>
              </a:rPr>
              <a:t>• [정제] raw → tidy 파이프라인 (src/prepare)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Malgun Gothic"/>
              </a:rPr>
              <a:t>– 인코딩 자동판별, 가로형→세로형 변환·다중헤더 파싱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Malgun Gothic"/>
              </a:rPr>
              <a:t>– 시도명 표준화(옛/신 명칭), 지역단위 매핑(14지방회·법원관내·도단위 → 권역)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Malgun Gothic"/>
              </a:rPr>
              <a:t>– 공단 반기→연 합산, 사법연감 '본안사건' 추출(비송 제외)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Malgun Gothic"/>
              </a:rPr>
              <a:t>– 결측·이상치 처리 → 권역×연도 패널 → 합계 교차검증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6. LLAI는 어떻게 계산되나 — 예시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222222"/>
                </a:solidFill>
                <a:latin typeface="Malgun Gothic"/>
              </a:rPr>
              <a:t>• 각 지표를 전국 최소=0·최대=1로 정규화(A2는 1−값) 후 가중 평균 ×100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2222"/>
                </a:solidFill>
                <a:latin typeface="Malgun Gothic"/>
              </a:rPr>
              <a:t>• LLAI = 0.69·A1n + 0.14·(1−A2n) + 0.17·A3n  (엔트로피 가중치)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301752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</a:rPr>
                        <a:t>권역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</a:rPr>
                        <a:t>A1n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</a:rPr>
                        <a:t>1−A2n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</a:rPr>
                        <a:t>A3n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</a:rPr>
                        <a:t>LLAI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Malgun Gothic"/>
                        </a:rPr>
                        <a:t>서울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Malgun Gothic"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Malgun Gothic"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Malgun Gothic"/>
                        </a:rPr>
                        <a:t>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Malgun Gothic"/>
                        </a:rPr>
                        <a:t>91.1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Malgun Gothic"/>
                        </a:rPr>
                        <a:t>강원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Malgun Gothic"/>
                        </a:rP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Malgun Gothic"/>
                        </a:rP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Malgun Gothic"/>
                        </a:rPr>
                        <a:t>0.09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latin typeface="Malgun Gothic"/>
                        </a:rPr>
                        <a:t>1.6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9377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22222"/>
                </a:solidFill>
                <a:latin typeface="Malgun Gothic"/>
              </a:rPr>
              <a:t>• 서울: 변호사·사건부담 두 축 모두 전국 최상(1.0) → 거의 만점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22222"/>
                </a:solidFill>
                <a:latin typeface="Malgun Gothic"/>
              </a:rPr>
              <a:t>• 강원: 두 축 모두 전국 최하(0) → 바닥. LLAI는 '전국 상대 위치'를 의미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7. 결과 ① — LLAI 순위 (region13, 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_llai_ranking_region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6933804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82880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서울 91 ≫ 압도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울산·제주 2·3위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(인구 적어 1인당 양호)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인천은 하위권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(사건부담 높음)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Malgun Gothic"/>
              </a:rPr>
              <a:t>📊 읽는 법 — 막대 길이=LLAI, 색=클러스터. 서울만 홀로 길고 파랑(별도 그룹).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7. 결과 ② — 코로플레스 지도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7_map_region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71600"/>
            <a:ext cx="5525669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Malgun Gothic"/>
              </a:rPr>
              <a:t>📊 읽는 법 — 파랑=고접근성, 빨강=저접근성. 서울만 파랑, 전국이 붉음 → 서울 일극 집중.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8. 가설 H2 — 변호사 ↔ 사건 부담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2_scatter_a1_a2_region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46315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828800"/>
            <a:ext cx="4846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강한 음의 상관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r = −0.84 ~ −0.88 (p&lt;0.01)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변호사 부족 → 1인당 부담 폭증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서울은 우하단 극단 이상치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Malgun Gothic"/>
              </a:rPr>
              <a:t>📊 읽는 법 — 오른쪽 아래로 갈수록 좋음. 서울은 맨 오른쪽 아래, 비수도권은 왼쪽 위에 뭉침.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9. 가설 H4 — 양적 팽창의 함정 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8_lawye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07297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737360"/>
            <a:ext cx="4297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222222"/>
                </a:solidFill>
                <a:latin typeface="Malgun Gothic"/>
              </a:rPr>
              <a:t>• 변호사 3.4배↑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Malgun Gothic"/>
              </a:rPr>
              <a:t>– 9,612 → 32,273명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22222"/>
                </a:solidFill>
                <a:latin typeface="Malgun Gothic"/>
              </a:rPr>
              <a:t>• 서울 비중 71%→76%↑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22222"/>
                </a:solidFill>
                <a:latin typeface="Malgun Gothic"/>
              </a:rPr>
              <a:t>– 비수도권 全 권역 하락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222222"/>
                </a:solidFill>
                <a:latin typeface="Malgun Gothic"/>
              </a:rPr>
              <a:t>• HHI 0.53→0.60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Malgun Gothic"/>
              </a:rPr>
              <a:t>📊 읽는 법 — 권역별 점유율 2009(회색) vs 2026(빨강). 서울만 커지고 나머지는 줄거나 정체.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10. 심화 — 서울을 빼고 보면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7_map_region13_exseo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5304642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828800"/>
            <a:ext cx="4846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부산·울산·제주 상위 부상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경기·인천은 중하위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핵심: '수도권 우위'는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사실상 서울 단독 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Malgun Gothic"/>
              </a:rPr>
              <a:t>📊 읽는 법 — 서울 제외·재정규화(서울 회색). 색 범위 재조정 → 지방 내부 격차가 보임.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11. 가설 검정 종합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H2 ✅ 강하게 지지 — corr(A1,A2) = −0.84~−0.88 (p&lt;0.01)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H4 ✅ 지지 — 변호사 3.4배↑에도 서울 집중 심화 + 법률구조 격차 확대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H1 △ 방향만 일치 — 수도권 1인당 인구 4,039 &lt; 비수도권 5,250 (p=0.19)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H3 △ 약함 — GRDP와 접근성 상관 비유의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표본 작음(권역 10~13개) → 검정력 한계 명시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12. 결론 · 정책 시사점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변호사 자원의 서울 일극 집중이 격차의 핵심 동인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인구 대비·사건부담이 접근성을 좌우 (인천=수도권인데 하위)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양적 팽창만으로는 격차 해소 안 됨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정책 제언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지방 변호사 유치 인센티브 / 공단 자원 비수도권 우선 배치</a:t>
            </a:r>
          </a:p>
          <a:p>
            <a:pPr lvl="1">
              <a:spcAft>
                <a:spcPts val="900"/>
              </a:spcAft>
            </a:pPr>
            <a:r>
              <a:rPr sz="1700">
                <a:solidFill>
                  <a:srgbClr val="222222"/>
                </a:solidFill>
                <a:latin typeface="Malgun Gothic"/>
              </a:rPr>
              <a:t>– 사건부담 높은 권역 인력 보강 / 로스쿨 정원·배치 연계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13. 한계와 향후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변호사 2시점(2009·현재) — 연속 시계열은 변호사백서 PDF 보강 필요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표본이 작아 통계적 검정력 제한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A3 공단 10도단위 → region13에선 인구비 근사배분</a:t>
            </a:r>
          </a:p>
          <a:p>
            <a:pPr>
              <a:spcAft>
                <a:spcPts val="900"/>
              </a:spcAft>
            </a:pPr>
            <a:r>
              <a:rPr sz="2000">
                <a:solidFill>
                  <a:srgbClr val="222222"/>
                </a:solidFill>
                <a:latin typeface="Malgun Gothic"/>
              </a:rPr>
              <a:t>• 향후: 코로플레스 대시보드 고도화, 시계열 LLAI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Malgun Gothic"/>
              </a:rPr>
              <a:t>부록 — region13 전체 결과표 (2024)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381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60320" y="1554480"/>
          <a:ext cx="70408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176"/>
                <a:gridCol w="1408176"/>
                <a:gridCol w="1408176"/>
                <a:gridCol w="1408176"/>
                <a:gridCol w="1408176"/>
              </a:tblGrid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권역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A1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A2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A3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LLAI(엔트로피)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서울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263.3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16.2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91.1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울산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23.0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89.2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24.2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제주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23.0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96.0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23.3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부산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37.0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53.5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19.1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경기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13.8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106.7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11.7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경남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103.3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11.5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광주권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94.5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10.3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대전권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20.5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82.4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9.7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대구권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17.3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92.4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9.2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전북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85.7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8.8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인천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24.8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108.7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5.0</a:t>
                      </a:r>
                    </a:p>
                  </a:txBody>
                  <a:tcPr anchor="ctr"/>
                </a:tc>
              </a:tr>
              <a:tr h="34616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충북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14.6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107.6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4.2</a:t>
                      </a:r>
                    </a:p>
                  </a:txBody>
                  <a:tcPr anchor="ctr"/>
                </a:tc>
              </a:tr>
              <a:tr h="346175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강원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121.0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0.04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Malgun Gothic"/>
                        </a:rPr>
                        <a:t>1.6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  <a:latin typeface="Malgun Gothic"/>
              </a:rPr>
              <a:t>감사합니다</a:t>
            </a:r>
          </a:p>
          <a:p>
            <a:r>
              <a:rPr sz="2000">
                <a:solidFill>
                  <a:srgbClr val="C44E52"/>
                </a:solidFill>
                <a:latin typeface="Malgun Gothic"/>
              </a:rPr>
              <a:t>코드·노트북·인터랙티브 지도: github.com/Allenkeem/llai-project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