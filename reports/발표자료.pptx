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80" r:id="rId31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81" r:id="rId32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17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대한민국 법률 서비스 접근성 불균형 분석</a:t>
            </a:r>
          </a:p>
          <a:p>
            <a:r>
              <a:rPr sz="2200">
                <a:solidFill>
                  <a:srgbClr val="C44E52"/>
                </a:solidFill>
                <a:latin typeface="Malgun Gothic"/>
              </a:rPr>
              <a:t>지역별 종합 법률 접근성 지수(LLAI) 개발 및 격차 탐색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555555"/>
                </a:solidFill>
                <a:latin typeface="Malgun Gothic"/>
              </a:rPr>
              <a:t>서강대학교 빅데이터컴퓨팅(BDS3010) · 20210717 김찬우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이 발표, 한 줄로 말하면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1F3A5F"/>
                </a:solidFill>
                <a:latin typeface="Malgun Gothic"/>
              </a:rPr>
              <a:t>변호사는 서울에 쏠려 있고, 아무리 늘려도 그 쏠림은 줄지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했나 — 법률 도움(변호사·법원·법률구조)이 지역마다 얼마나 다른지</a:t>
            </a:r>
          </a:p>
          <a:p>
            <a:pPr lvl="1"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– 하나의 점수(LLAI, 0~100점)로 환산해 비교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무엇을 찾았나 — 서울만 점수가 압도적, 지방은 변호사가 적고 더 바쁨</a:t>
            </a:r>
          </a:p>
          <a:p>
            <a:pPr>
              <a:spcAft>
                <a:spcPts val="800"/>
              </a:spcAft>
            </a:pPr>
            <a:r>
              <a:rPr sz="2200">
                <a:solidFill>
                  <a:srgbClr val="222222"/>
                </a:solidFill>
                <a:latin typeface="Malgun Gothic"/>
              </a:rPr>
              <a:t>• 왜 문제인가 — 변호사가 3배 넘게 늘어도 서울 집중은 오히려 더 심해짐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1. 왜 이 문제인가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로스쿨 도입(2009) 이후 변호사 4만 명 시대 — 자원은 어디에 있나?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서울·수도권 집중 vs 지방 부족, 취약계층 사각지대 우려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법률 서비스 접근성의 지역 불균형 = 사법 정의와 직결된 사회 문제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연구 질문: 어느 지역이, 얼마나 법적 보호에서 소외되는가?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2. 어떻게 측정하나 — 법률 접근성 점수(LLAI)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F3A5F"/>
                </a:solidFill>
                <a:latin typeface="Malgun Gothic"/>
              </a:rPr>
              <a:t>세 가지를 각각 0~100점으로 바꿔, 중요도만큼 섞어 하나의 점수로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① 변호사 충분한가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(인구 대비 변호사 수)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8620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② 안 바쁜가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(변호사 1인당 사건 수↓)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2743200"/>
            <a:ext cx="2834640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③ 약자도 받나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(법률구조 이용)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31089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66960" y="2651760"/>
            <a:ext cx="1828800" cy="155448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법률 접근성 점수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Malgun Gothic"/>
              </a:rPr>
              <a:t>0~100점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점수가 높을수록 그 지역의 법률 접근성이 좋다는 뜻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'중요도(가중치)'는 데이터가 객관적으로 정함 — 사람이 임의로 안 정함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※ 정확한 식: LLAI = w₁·A1ⁿ + w₂·(1−A2ⁿ) + w₃·A3ⁿ  (ⁿ = 0~1로 맞춘 값, A2는 적을수록 좋아 1에서 뺌)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3. 분석 파이프라인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원천 데이터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변협·사법연감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공단·KOSIS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1992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3744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수집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스크래핑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다운로드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05656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07408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정제 tidy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인코딩·가로→세로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시도명 표준화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 매핑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13권역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10도단위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74736" y="2468880"/>
            <a:ext cx="1627632" cy="1371600"/>
          </a:xfrm>
          <a:prstGeom prst="roundRect">
            <a:avLst/>
          </a:prstGeom>
          <a:solidFill>
            <a:srgbClr val="1F3A5F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패널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권역×연도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6648" y="288036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C44E52"/>
                </a:solidFill>
                <a:latin typeface="Malgun Gothic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0" y="2468880"/>
            <a:ext cx="1627632" cy="1371600"/>
          </a:xfrm>
          <a:prstGeom prst="roundRect">
            <a:avLst/>
          </a:prstGeom>
          <a:solidFill>
            <a:srgbClr val="C44E52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LLAI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Malgun Gothic"/>
              </a:rPr>
              <a:t>정규화·가중치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각 단계는 src/ 모듈로 구현 — 재현 가능 (notebooks/01~04)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LLAI 산출 후 → 비슷한 권역 묶기 · 가설 4개 검정 · 지도 시각화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4. 데이터 5종과 두 가지 난관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출처: 변협(스크랩)·사법연감·법률구조공단·KOSIS·시도경계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1 — 출처별 지역 구분이 제각각 → 13권역 / 10도단위 두 가지로 병행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난관 2 — 공단·변협은 다운로드 불가 → 웹 스크래핑 + KOSIS 우회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신뢰성 검증: 법원 관내 인구 합 = KOSIS 인구와 정확히 일치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법원 사건 합계도 공식 통계와 정확히 일치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5. 데이터 수집 · 정제(raw → 깔끔한 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[수집] 출처별 방식이 달라 두 갈래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변협 회원현황: 웹 스크래핑(화면에서 자동으로 표 긁어오기) — 다운로드 미지원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KOSIS·공단·사법연감: 엑셀/CSV 다운로드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[정제] 제각각인 원본을 분석용 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글자 깨짐(인코딩) 처리, 가로로 긴 표 → 세로로 정리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지역 이름 통일, 서로 다른 지역 구분을 하나의 기준(권역)으로 매핑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법원 사건은 '실제 재판 사건(본안)'만 사용 — 등기·공탁 등 단순 절차 제외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빠진 값 처리 → 권역×연도 표 완성 → 합계로 교차검증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데이터 규모와 성격 — 얼마나 '빅'데이터인가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1732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657600"/>
                <a:gridCol w="2743200"/>
                <a:gridCol w="22860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출처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형식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기간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사법연감(법원)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 19파일·다중시트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약 140만 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기초수급자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6,589행 × 22열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2009~24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KOSIS 인구·GRDP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CSV(가로로 긴 표)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20행 × 55~61열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2008~25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공단 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엑셀(반기별)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민사·형사 2파일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2012~25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변협 회원현황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웹 스크래핑(HTML)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14행(현재값)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현재</a:t>
                      </a:r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시도 경계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지도파일(GeoJSON)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17개 · 7.5MB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2018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6052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원천 ~155만 칸 → 정제 → 분석용 표 234·180행 → 최종 비교 13개 권역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• 양(Volume)은 중간 — 핵심은 '종류 다양(5출처·4형식)'과 '서로 다른 기준 맞추기'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222222"/>
                </a:solidFill>
                <a:latin typeface="Malgun Gothic"/>
              </a:rPr>
              <a:t>– 작업의 무게중심 = 분석보다 '수집·정제(데이터 다듬기)'에 있음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6. 점수는 어떻게 나오나 — 예시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087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각 지표를 0~1로 환산(1=전국 최고, 0=최저) → 가중치만큼 섞어 ×100</a:t>
            </a:r>
          </a:p>
          <a:p>
            <a:pPr>
              <a:spcAft>
                <a:spcPts val="800"/>
              </a:spcAft>
            </a:pPr>
            <a:r>
              <a:rPr sz="1800" b="1">
                <a:solidFill>
                  <a:srgbClr val="222222"/>
                </a:solidFill>
                <a:latin typeface="Malgun Gothic"/>
              </a:rPr>
              <a:t>• 가중치 = 변호사 0.69 · 안 바쁨 0.14 · 약자지원 0.17 (엔트로피)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45920" y="2468880"/>
          <a:ext cx="87782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2103120"/>
                <a:gridCol w="2103120"/>
                <a:gridCol w="1737360"/>
                <a:gridCol w="1554480"/>
              </a:tblGrid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안 바쁨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약자지원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Malgun Gothic"/>
                        </a:rPr>
                        <a:t>→ 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1.00 (최고)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91점</a:t>
                      </a:r>
                    </a:p>
                  </a:txBody>
                  <a:tcPr anchor="ctr"/>
                </a:tc>
              </a:tr>
              <a:tr h="579120">
                <a:tc>
                  <a:txBody>
                    <a:bodyPr/>
                    <a:lstStyle/>
                    <a:p>
                      <a:pPr algn="ctr"/>
                      <a:r>
                        <a:rPr sz="16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0.00 (최저)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0.09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latin typeface="Malgun Gothic"/>
                        </a:rPr>
                        <a:t>2점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C44E52"/>
                </a:solidFill>
                <a:latin typeface="Malgun Gothic"/>
              </a:rPr>
              <a:t>• 서울 = 0.69×1.00 + 0.14×1.00 + 0.17×0.48 = 0.91 → 91점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강원 = 0.69×0 + 0.14×0 + 0.17×0.09 ≈ 0.02 → 2점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– 즉 LLAI = '전국에서 상대적으로 어느 위치냐'를 0~100으로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분석 기법 한눈에 (무엇·어떻게·왜)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4023360"/>
                <a:gridCol w="4206240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무엇을 / 어떻게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Min-Max 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지표를 0~1로 통일(A2 뒤집음)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단위 통일 · 0~100 직관 해석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가중치 산정 (엔트로피·PCA)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세 지표 합칠 비중 정하기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자의성 방지 → 강건성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LLAI 합성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정규화 지표 가중평균 ×100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단순·투명한 점수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상관분석 (Pearson·Spearman)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값이 같이 움직이나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이상치(서울) 대비 교차 확인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집단 비교 (Mann-Whitney 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두 집단 차이 검정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표본 작아 → 비모수 검정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군집분석 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비슷한 권역끼리 묶기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유형 분류 · 묶음 수 객관 선정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집중도 (HHI · 변동계수)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한 곳에 몰린 정도 수치화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집중·격차 변화 직접 측정</a:t>
                      </a:r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코로플레스 지도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지역 경계 합쳐 색칠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격차를 한눈에 전달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126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본문 결과에 직접 등장: 정규화·엔트로피 가중·LLAI·상관(H2)·Mann-Whitney(H1)·K-means·HHI(H4). PCA·Spearman·Silhouette은 가중치/관계/군집수 교차검증용(보조). 용어 풀이는 부록 B.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① — 지역별 점수 순위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828800"/>
            <a:ext cx="49377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 91점 ≫ 압도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울산·제주 2·3위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(1인당만 높음, 절대수는 적음)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인천은 하위권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(사건이 많아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62356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i="1">
                <a:solidFill>
                  <a:srgbClr val="555555"/>
                </a:solidFill>
                <a:latin typeface="Malgun Gothic"/>
              </a:rPr>
              <a:t>📊 막대가 길수록 점수 높음 · 서울만 파랑(별도 그룹).</a:t>
            </a:r>
          </a:p>
          <a:p>
            <a:r>
              <a:rPr sz="1400" b="1">
                <a:solidFill>
                  <a:srgbClr val="C44E52"/>
                </a:solidFill>
                <a:latin typeface="Malgun Gothic"/>
              </a:rPr>
              <a:t>⚠️ 이 점수는 '인구 1인당'이라 사람 적은 곳이 유리하게 잡힘 — 제주는 변호사 154명(전국 최소)인데도 3위. '구하기 쉬움'이 아니라 '1인당 비율'이 높은 것이니, 반드시 절대 변호사 수와 함께 봐야 함.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7. 결과 ② — 지역별 색지도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0" y="1371600"/>
            <a:ext cx="5525669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파랑=점수 높음(좋음), 빨강=낮음(나쁨). 서울만 파랑, 전국이 붉음 → 서울 일극 집중.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8. 가설 H2 — 변호사 많을수록 덜 바쁘다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2_scatter_a1_a2_region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5346315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73736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변호사 많은 곳일수록 1인당 사건부담 ↓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두 값의 관계 = −0.85 (강한 반대 방향)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'반대 방향' = 한쪽 늘면 다른 쪽 줆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→ 바람직한 관계 (변호사 많으면 덜 바쁨)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서울은 우하단 극단 (많고 + 안 바쁨)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오른쪽 아래로 갈수록 좋음. 서울은 맨 오른쪽 아래, 지방은 왼쪽 위에 뭉침.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9. 가설 H4 — 늘려도 격차는 안 준다 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8_lawyer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072970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80960" y="1737360"/>
            <a:ext cx="42976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변호사 3.4배↑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9,612 → 32,273명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그런데 서울 비중 71%→76%↑</a:t>
            </a:r>
          </a:p>
          <a:p>
            <a:pPr lvl="1">
              <a:spcAft>
                <a:spcPts val="8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지방은 全 권역 비중 하락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= 쏠림 더 심해짐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권역별 점유율 2009(회색) vs 2026(빨강). 서울만 커지고 나머지는 줄거나 정체.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① — 누가 올라오나 (지도)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7_map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463040"/>
            <a:ext cx="5304642" cy="4389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1828800"/>
            <a:ext cx="48463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서울을 빼고 12권역만 다시 점수화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부산·울산·제주 상위로 올라옴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경기·인천은 중하위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'수도권이 좋다'는 건</a:t>
            </a:r>
          </a:p>
          <a:p>
            <a:pPr lvl="1">
              <a:spcAft>
                <a:spcPts val="8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사실 '서울만 좋다'였던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제외 후 다시 점수화(서울 회색). 색 범위가 넓어져 지방 내부 격차가 보임.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10. 서울 제외 ② — 그래서 무엇이 보이나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1_llai_ranking_region13_exseo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6933804" cy="4297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60020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핵심: '수도권 우위'는 서울을 빼면 역전된다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경기·인천이 오히려 평균 이하</a:t>
            </a:r>
          </a:p>
          <a:p>
            <a:pPr lvl="1">
              <a:spcAft>
                <a:spcPts val="800"/>
              </a:spcAft>
            </a:pPr>
            <a:r>
              <a:rPr sz="1700" b="0">
                <a:solidFill>
                  <a:srgbClr val="222222"/>
                </a:solidFill>
                <a:latin typeface="Malgun Gothic"/>
              </a:rPr>
              <a:t>– 부산·울산 등 광역시가 지방 상위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변별 요인도 바뀐다: 변호사 수 → 취약계층 지원(A3)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55555"/>
                </a:solidFill>
                <a:latin typeface="Malgun Gothic"/>
              </a:rPr>
              <a:t>📊 읽는 법 — 서울 뺀 12권역 점수 순위. 부산·울산·제주 상위, 강원·충북 최하.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그래서 뭐? — 변호사 없이 받는 재판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86868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소액은 81.8%)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35%(최저) vs 대구 51%·수원 48%·인천 48%(최고)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방어권·승소율에서 불이익</a:t>
            </a:r>
          </a:p>
          <a:p>
            <a:pPr>
              <a:spcAft>
                <a:spcPts val="9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LLAI 격차는 '숫자'가 아니라 '재판의 질' 문제</a:t>
            </a:r>
          </a:p>
          <a:p>
            <a:pPr lvl="1">
              <a:spcAft>
                <a:spcPts val="900"/>
              </a:spcAft>
            </a:pPr>
            <a:r>
              <a:rPr sz="1700">
                <a:solidFill>
                  <a:srgbClr val="222222"/>
                </a:solidFill>
                <a:latin typeface="Malgun Gothic"/>
              </a:rPr>
              <a:t>– ※ 현재는 4개 법원 사례로 '방향' 제시 — 13권역 전수 상관은 향후 과제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형사 1심의 약 45%가 변호사 없는 '나홀로소송' (민사 소액사건은 81.8%)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지역 격차 — 서울중앙 35%(전국 최저) vs 대구 51% · 수원 48% · 인천 48%(최고)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변호사 부족 지역일수록 혼자 재판 → 방어권·승소 가능성에서 직접 불이익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본 분석 하위권 인천(LLAI 5.0)도 나홀로소송 48% → 두 지표가 같은 방향</a:t>
            </a:r>
          </a:p>
          <a:p>
            <a:pPr>
              <a:spcAft>
                <a:spcPts val="1100"/>
              </a:spcAft>
            </a:pPr>
            <a:r>
              <a:rPr sz="2000">
                <a:solidFill>
                  <a:srgbClr val="222222"/>
                </a:solidFill>
                <a:latin typeface="Malgun Gothic"/>
              </a:rPr>
              <a:t>• → LLAI 격차는 '숫자'가 아니라 시민이 겪는 '재판의 질'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555555"/>
                </a:solidFill>
                <a:latin typeface="Malgun Gothic"/>
              </a:rPr>
              <a:t>※ 출처: 사법연감·박주민 의원실(리걸타임즈·뉴스1 보도). 외부 통계 인용으로 본 연구 분석과 구분.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11. 가설 검정 종합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H2 ✅ 지지 — 변호사 적을수록 1인당 부담↑ (인구당 사건수 교차검증 +0.91로 순환성 보완)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H4 ✅ 지지 — 변호사 3.4배↑에도 서울 쏠림 심해짐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H1 △ 방향만 맞음 — 수도권 유리하나 표본 작아 확정 못 함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H3 △ 약함 — 소득과 접근성 관계 뚜렷하지 않음</a:t>
            </a:r>
          </a:p>
          <a:p>
            <a:pPr lvl="1">
              <a:spcAft>
                <a:spcPts val="8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권역 10~13개로 적어 통계적 확신엔 한계 (정직히 명시)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12. 결론 · 정책 시사점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100" b="1">
                <a:solidFill>
                  <a:srgbClr val="C44E52"/>
                </a:solidFill>
                <a:latin typeface="Malgun Gothic"/>
              </a:rPr>
              <a:t>• [헤드라인] 변호사 3.4배 늘려도 서울 쏠림은 심해졌다 (H4)</a:t>
            </a:r>
          </a:p>
          <a:p>
            <a:pPr lvl="1">
              <a:spcAft>
                <a:spcPts val="800"/>
              </a:spcAft>
            </a:pPr>
            <a:r>
              <a:rPr sz="1600" b="0">
                <a:solidFill>
                  <a:srgbClr val="222222"/>
                </a:solidFill>
                <a:latin typeface="Malgun Gothic"/>
              </a:rPr>
              <a:t>– 9,612→32,273명인데 서울 비중 71%→76% — 양적 팽창의 실패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서울 일극 집중이 격차와 가장 강하게 연관 (인천=수도권인데 하위)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실질 결과 — 변호사 부족 지역일수록 나홀로소송↑ (재판의 질 문제)</a:t>
            </a:r>
          </a:p>
          <a:p>
            <a:pPr>
              <a:spcAft>
                <a:spcPts val="800"/>
              </a:spcAft>
            </a:pPr>
            <a:r>
              <a:rPr sz="1900" b="0">
                <a:solidFill>
                  <a:srgbClr val="222222"/>
                </a:solidFill>
                <a:latin typeface="Malgun Gothic"/>
              </a:rPr>
              <a:t>• 처방은 '총량'이 아니라 '분포·공적 공급' (공공변호사·법률구조 배치)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13. 한계와 향후 과제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검정력 한계 — 17개 시도라 표본 작음 → H1·H3는 방향만(△)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핵심 기여는 '검정'보다 통합 파이프라인·지수·실질 임팩트 연결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기준 시점 혼합 — 변호사 2026 현재·인구/사건 2024 (완전 일치 X)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222222"/>
                </a:solidFill>
                <a:latin typeface="Malgun Gothic"/>
              </a:rPr>
              <a:t>– H4는 변호사 2시점 비교(추세선 아님) + 법률구조 시계열로 보강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타당성 — LLAI는 1인당 지표라 절대 규모(선택지)와 함께 봐야 (제주 154명)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  <a:latin typeface="Malgun Gothic"/>
              </a:rPr>
              <a:t>• '빅'데이터 — 양은 중간, 핵심은 다출처 수집·정제·통합(Variety·Veracity)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연구 범위 · 선행연구 차용 여부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[학술 윤리] 타인 연구 복제·표절 없음 — 코드·지수·분석 전부 자체 개발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단, '선행연구가 없다'는 뜻은 아님 — 기존 연구는 분명히 존재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222222"/>
                </a:solidFill>
                <a:latin typeface="Malgun Gothic"/>
              </a:rPr>
              <a:t>– 사법정책연구원·법률구조공단 보고서, 변호사 정원-접근성 연구(서울대 등)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본 지수의 표준 지표(10만명당 변호사 수)도 기존 연구 관행을 따름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한계 — 기존 지수와의 정량 벤치마킹은 미수행 (향후 과제)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222222"/>
                </a:solidFill>
                <a:latin typeface="Malgun Gothic"/>
              </a:rPr>
              <a:t>• 외부 차용은 공개 데이터·지도파일뿐, 모두 출처 명시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— region13 전체 결과표 (2024)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0" y="1554480"/>
          <a:ext cx="667512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권역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A2 사건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A3 구조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LLAI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서울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263.3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16.2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91.1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울산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89.2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제주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96.0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23.3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부산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37.0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53.5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19.1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106.7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경남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13.0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103.3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11.5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광주권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19.7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94.5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10.3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대전권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20.5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9.7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대구권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17.3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92.4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9.2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전북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18.5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85.7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8.8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인천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24.8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108.7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5.0</a:t>
                      </a:r>
                    </a:p>
                  </a:txBody>
                  <a:tcPr anchor="ctr"/>
                </a:tc>
              </a:tr>
              <a:tr h="34616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충북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14.6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107.6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4.2</a:t>
                      </a:r>
                    </a:p>
                  </a:txBody>
                  <a:tcPr anchor="ctr"/>
                </a:tc>
              </a:tr>
              <a:tr h="346175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latin typeface="Malgun Gothic"/>
                        </a:rPr>
                        <a:t>강원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12.7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121.0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0.04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latin typeface="Malgun Gothic"/>
                        </a:rPr>
                        <a:t>1.6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A — 방법론 선택의 근거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17시도가 아닌 두 단위(13권역/10도단위)인가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변호사·법률구조가 광역시를 도에 묶어 제공 → 시도 분리 불가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222222"/>
                </a:solidFill>
                <a:latin typeface="Malgun Gothic"/>
              </a:rPr>
              <a:t>– 두 단위 결론 일치(서울 1위·강원 최하) → 단위 선택에 무관함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왜 '본안사건'인가 — 전체의 60%가 등기·공탁(단순 절차) → 실제 재판만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222222"/>
                </a:solidFill>
                <a:latin typeface="Malgun Gothic"/>
              </a:rPr>
              <a:t>• 강건성은 한정 — '서울 1위·강원 최하'만 불변, 2~13위는 가중치에 민감</a:t>
            </a:r>
          </a:p>
          <a:p>
            <a:pPr lvl="1">
              <a:spcAft>
                <a:spcPts val="800"/>
              </a:spcAft>
            </a:pPr>
            <a:r>
              <a:rPr sz="1500" b="0">
                <a:solidFill>
                  <a:srgbClr val="555555"/>
                </a:solidFill>
                <a:latin typeface="Malgun Gothic"/>
              </a:rPr>
              <a:t>– (PCA에선 부산이 비서울 1위 · 엔트로피 가중치는 표본 따라 변함)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B — 용어 정리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686800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용어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algun Gothic"/>
                        </a:rPr>
                        <a:t>쉽게 말하면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본안사건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실제로 다투는 재판 사건(민사·형사·가사). 변호사가 실제 일하는 사건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비송사건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등기·공탁처럼 다툼 없는 단순 행정 절차 → 분석에서 제외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개업변호사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실제 영업 중인 변호사(쉬는 사람 제외)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법률구조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돈 없는 사람에게 무료·저비용으로 법률 도와주는 제도(공단)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정규화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단위 다른 값을 0~1로 맞춰 비교 가능하게 만들기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엔트로피 가중치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지역마다 차이가 큰(=중요한) 지표에 비중을 더 주는 방식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HHI / 변동계수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한 곳에 얼마나 쏠렸나 / 격차가 얼마나 큰가를 나타내는 수치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군집분석(K-means)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비슷한 지역끼리 자동으로 묶는 방법</a:t>
                      </a:r>
                    </a:p>
                  </a:txBody>
                  <a:tcPr anchor="ctr"/>
                </a:tc>
              </a:tr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latin typeface="Malgun Gothic"/>
                        </a:rPr>
                        <a:t>코로플레스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latin typeface="Malgun Gothic"/>
                        </a:rPr>
                        <a:t>지역별 값을 색 진하기로 보여주는 지도</a:t>
                      </a: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Malgun Gothic"/>
              </a:rPr>
              <a:t>감사합니다</a:t>
            </a:r>
          </a:p>
          <a:p>
            <a:r>
              <a:rPr sz="2000">
                <a:solidFill>
                  <a:srgbClr val="C44E52"/>
                </a:solidFill>
                <a:latin typeface="Malgun Gothic"/>
              </a:rPr>
              <a:t>코드·노트북·인터랙티브 지도: github.com/Allenkeem/llai-project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Malgun Gothic"/>
              </a:rPr>
              <a:t>부록 C — 가중치(0.69)는 어떻게 정해지나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11064240" cy="38100"/>
          </a:xfrm>
          <a:prstGeom prst="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10881360" cy="731520"/>
          </a:xfrm>
          <a:prstGeom prst="roundRect">
            <a:avLst/>
          </a:prstGeom>
          <a:solidFill>
            <a:srgbClr val="EDF1F7"/>
          </a:solidFill>
          <a:ln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3A5F"/>
                </a:solidFill>
                <a:latin typeface="Malgun Gothic"/>
              </a:rPr>
              <a:t>엔트로피 가중치 = 지역마다 '들쭉날쭉한' 지표일수록 큰 비중 (다 비슷하면 순위 못 매겨 → 비중 작게)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188720" y="2377440"/>
          <a:ext cx="9784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지역 간 차이 (엔트로피↓=쏠림)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가중치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서울 제외 시</a:t>
                      </a:r>
                    </a:p>
                  </a:txBody>
                  <a:tcPr anchor="ctr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A1 변호사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가장 쏠림 (엔트로피 0.43)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C44E52"/>
                          </a:solidFill>
                          <a:latin typeface="Malgun Gothic"/>
                        </a:rPr>
                        <a:t>0.40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A2 사건부담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중간 (0.88)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0.21</a:t>
                      </a:r>
                    </a:p>
                  </a:txBody>
                  <a:tcPr anchor="ctr"/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A3 약자지원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sz="1300">
                          <a:latin typeface="Malgun Gothic"/>
                        </a:rPr>
                        <a:t>거의 고름 (0.86)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>
                          <a:latin typeface="Malgun Gothic"/>
                        </a:rPr>
                        <a:t>0.39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48056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변호사 0.69는 '제일 중요해서'가 아니라 '값이 가장 쏠려서' — 그 쏠림은 거의 서울(263명, 13권역 합의 절반) 탓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C44E52"/>
                </a:solidFill>
                <a:latin typeface="Malgun Gothic"/>
              </a:rPr>
              <a:t>• 서울을 빼면 변호사 가중치 0.69 → 0.40 반토막 (들쭉날쭉함이 사라지니까)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⚠️ 순환적 구조 — 분석 대상(서울 쏠림)이 가중치를 정함: 서울 극단 → 변호사 비중↑ → 서울 1위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555555"/>
                </a:solidFill>
                <a:latin typeface="Malgun Gothic"/>
              </a:rPr>
              <a:t>• 그래서 '객관적'이 아니라 '데이터의 쏠림이 가중치를 정했다'가 정확 → 균등 가중치 결과도 함께 제시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