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80" r:id="rId31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대한민국 법률 서비스 접근성 불균형 분석</a:t>
            </a:r>
          </a:p>
          <a:p>
            <a:r>
              <a:rPr sz="2200">
                <a:solidFill>
                  <a:srgbClr val="C44E52"/>
                </a:solidFill>
                <a:latin typeface="Malgun Gothic"/>
              </a:rPr>
              <a:t>지역별 종합 법률 접근성 지수(LLAI) 개발 및 격차 탐색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555555"/>
                </a:solidFill>
                <a:latin typeface="Malgun Gothic"/>
              </a:rPr>
              <a:t>서강대학교 빅데이터컴퓨팅(BDS3010) · 20210717 김찬우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이 발표, 한 줄로 말하면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F3A5F"/>
                </a:solidFill>
                <a:latin typeface="Malgun Gothic"/>
              </a:rPr>
              <a:t>변호사는 서울에 쏠려 있고, 아무리 늘려도 그 쏠림은 줄지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무엇을 했나 — 법률 도움(변호사·법원·법률구조)이 지역마다 얼마나 다른지</a:t>
            </a:r>
          </a:p>
          <a:p>
            <a:pPr lvl="1"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– 하나의 점수(LLAI, 0~100점)로 환산해 비교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무엇을 찾았나 — 서울만 점수가 압도적, 지방은 변호사가 적고 더 바쁨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왜 문제인가 — 변호사가 3배 넘게 늘어도 서울 집중은 오히려 더 심해짐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1. 왜 이 문제인가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로스쿨 도입(2009) 이후 변호사 4만 명 시대 — 자원은 어디에 있나?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서울·수도권 집중 vs 지방 부족, 취약계층 사각지대 우려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법률 서비스 접근성의 지역 불균형 = 사법 정의와 직결된 사회 문제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연구 질문: 어느 지역이, 얼마나 법적 보호에서 소외되는가?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2. 어떻게 측정하나 — 법률 접근성 점수(LLAI)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F3A5F"/>
                </a:solidFill>
                <a:latin typeface="Malgun Gothic"/>
              </a:rPr>
              <a:t>세 가지를 각각 0~100점으로 바꿔, 중요도만큼 섞어 하나의 점수로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① 변호사 충분한가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(인구 대비 변호사 수)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8620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② 안 바쁜가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(변호사 1인당 사건 수↓)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③ 약자도 받나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(법률구조 이용)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31089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2651760"/>
            <a:ext cx="1828800" cy="1554480"/>
          </a:xfrm>
          <a:prstGeom prst="roundRect">
            <a:avLst/>
          </a:prstGeom>
          <a:solidFill>
            <a:srgbClr val="C44E52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법률 접근성 점수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LLAI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0~100점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80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점수가 높을수록 그 지역의 법률 접근성이 좋다는 뜻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'중요도(가중치)'는 데이터가 객관적으로 정함 — 사람이 임의로 안 정함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  <a:latin typeface="Malgun Gothic"/>
              </a:rPr>
              <a:t>※ 정확한 식: LLAI = w₁·A1ⁿ + w₂·(1−A2ⁿ) + w₃·A3ⁿ  (ⁿ = 0~1로 맞춘 값, A2는 적을수록 좋아 1에서 뺌)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3. 분석 파이프라인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원천 데이터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변협·사법연감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공단·KOSIS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1992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3744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수집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스크래핑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다운로드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05656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정제 tidy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인코딩·가로→세로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시도명 표준화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 매핑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13권역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10도단위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2983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74736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패널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권역×연도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6648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2468880"/>
            <a:ext cx="1627632" cy="1371600"/>
          </a:xfrm>
          <a:prstGeom prst="roundRect">
            <a:avLst/>
          </a:prstGeom>
          <a:solidFill>
            <a:srgbClr val="C44E52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LLAI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정규화·가중치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976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각 단계는 src/ 모듈로 구현 — 재현 가능 (notebooks/01~04)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LLAI 산출 후 → 비슷한 권역 묶기 · 가설 4개 검정 · 지도 시각화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4. 데이터 5종과 두 가지 난관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출처: 변협(스크랩)·사법연감·법률구조공단·KOSIS·시도경계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1 — 출처별 지역 구분이 제각각 → 13권역 / 10도단위 두 가지로 병행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2 — 공단·변협은 다운로드 불가 → 웹 스크래핑 + KOSIS 우회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신뢰성 검증: 법원 관내 인구 합 = KOSIS 인구와 정확히 일치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법원 사건 합계도 공식 통계와 정확히 일치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5. 데이터 수집 · 정제(raw → 깔끔한 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[수집] 출처별 방식이 달라 두 갈래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변협 회원현황: 웹 스크래핑(화면에서 자동으로 표 긁어오기) — 다운로드 미지원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KOSIS·공단·사법연감: 엑셀/CSV 다운로드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[정제] 제각각인 원본을 분석용 표로 정리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글자 깨짐(인코딩) 처리, 가로로 긴 표 → 세로로 정리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지역 이름 통일, 서로 다른 지역 구분을 하나의 기준(권역)으로 매핑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법원 사건은 '실제 재판 사건(본안)'만 사용 — 등기·공탁 등 단순 절차 제외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빠진 값 처리 → 권역×연도 표 완성 → 합계로 교차검증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데이터 규모와 성격 — 얼마나 '빅'데이터인가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657600"/>
                <a:gridCol w="27432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출처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형식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규모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기간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사법연감(법원)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엑셀 19파일·다중시트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약 140만 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KOSIS 기초수급자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CSV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6,589행 × 22열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2009~24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KOSIS 인구·GRDP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CSV(가로로 긴 표)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20행 × 55~61열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2008~25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공단 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엑셀(반기별)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민사·형사 2파일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2012~25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변협 회원현황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웹 스크래핑(HTML)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14행(현재값)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현재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시도 경계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지도파일(GeoJSON)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17개 · 7.5MB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2018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605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원천 ~155만 칸 → 정제 → 분석용 표 234·180행 → 최종 비교 13개 권역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양(Volume)은 중간 — 핵심은 '종류 다양(5출처·4형식)'과 '서로 다른 기준 맞추기'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222222"/>
                </a:solidFill>
                <a:latin typeface="Malgun Gothic"/>
              </a:rPr>
              <a:t>– 작업의 무게중심 = 분석보다 '수집·정제(데이터 다듬기)'에 있음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6. 점수는 어떻게 나오나 — 예시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각 지표를 0~1로 환산(1=전국 최고, 0=최저) 후 중요도만큼 섞어 ×100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45920" y="2468880"/>
          <a:ext cx="8778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103120"/>
                <a:gridCol w="2103120"/>
                <a:gridCol w="1737360"/>
                <a:gridCol w="1554480"/>
              </a:tblGrid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변호사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안 바쁨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약자지원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→ LLAI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1.00 (최고)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1.00 (최고)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91점</a:t>
                      </a:r>
                    </a:p>
                  </a:txBody>
                  <a:tcPr anchor="ctr"/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0.00 (최저)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0.00 (최저)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2점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480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서울: 변호사 많고·덜 바쁨 두 축 모두 전국 1등 → 거의 만점(91)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강원: 두 축 모두 전국 꼴찌 → 바닥(2점)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즉 LLAI는 '전국에서 상대적으로 어느 위치냐'를 0~100으로 보여줌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분석 기법 한눈에 (무엇·어떻게·왜)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023360"/>
                <a:gridCol w="4206240"/>
              </a:tblGrid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기법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무엇을 / 어떻게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왜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Min-Max 정규화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지표를 0~1로 통일(A2 뒤집음)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단위 통일 · 0~100 직관 해석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가중치 산정 (엔트로피·PCA)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세 지표 합칠 비중 정하기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자의성 방지 → 강건성 확인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LLAI 합성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정규화 지표 가중평균 ×100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단순·투명한 점수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상관분석 (Pearson·Spearman)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두 값이 같이 움직이나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이상치(서울) 대비 교차 확인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집단 비교 (Mann-Whitney U)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두 집단 차이 검정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표본 작아 → 비모수 검정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군집분석 (K-means)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비슷한 권역끼리 묶기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유형 분류 · 묶음 수 객관 선정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집중도 (HHI · 변동계수)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한 곳에 몰린 정도 수치화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집중·격차 변화 직접 측정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코로플레스 지도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지역 경계 합쳐 색칠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격차를 한눈에 전달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  <a:latin typeface="Malgun Gothic"/>
              </a:rPr>
              <a:t>※ 모두 표준 통계·기계학습 방법. 용어 풀이는 부록 B 참고.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7. 결과 ① — 지역별 점수 순위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llai_ranking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933804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828800"/>
            <a:ext cx="49377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 91점 ≫ 압도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울산·제주 2·3위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(인구 적어 1인당 양호)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인천은 하위권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(사건이 많아 바쁨)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막대가 길수록 점수 높음. 서울만 홀로 길고 파랑(별도 그룹), 나머지는 짧고 빨강.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7. 결과 ② — 지역별 색지도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71600"/>
            <a:ext cx="5525669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파랑=점수 높음(좋음), 빨강=낮음(나쁨). 서울만 파랑, 전국이 붉음 → 서울 일극 집중.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8. 가설 H2 — 변호사 많을수록 덜 바쁘다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2_scatter_a1_a2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34631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73736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변호사 많은 곳일수록 1인당 사건부담 ↓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두 값의 관계 = −0.85 (강한 반대 방향)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'반대 방향' = 한쪽 늘면 다른 쪽 줆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→ 바람직한 관계 (변호사 많으면 덜 바쁨)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서울은 우하단 극단 (많고 + 안 바쁨)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오른쪽 아래로 갈수록 좋음. 서울은 맨 오른쪽 아래, 지방은 왼쪽 위에 뭉침.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9. 가설 H4 — 늘려도 격차는 안 준다 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8_lawyer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07297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737360"/>
            <a:ext cx="4297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변호사 3.4배↑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9,612 → 32,273명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그런데 서울 비중 71%→76%↑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지방은 全 권역 비중 하락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= 쏠림 더 심해짐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권역별 점유율 2009(회색) vs 2026(빨강). 서울만 커지고 나머지는 줄거나 정체.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10. 심화 — 서울을 빼고 보면 (지도)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_exseo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304642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82880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서울을 빼고 12권역만 다시 점수화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부산·울산·제주 상위로 올라옴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경기·인천은 중하위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'수도권이 좋다'는 건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사실 '서울만 좋다'였던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서울 제외 후 다시 점수화(서울 회색). 색 범위가 넓어져 지방 내부 격차가 보임.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10. 서울 제외 — 숨은 구조 (심화)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llai_ranking_region13_exseo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933804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60020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수도권 착시 — 오히려 역전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수도권(경기·인천) 평균 25.8 &lt; 비수도권 35.2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비수도권 내부 격차 — 광역시 vs 도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부산·울산·인천 평균 52.7 ≫ 도 지역 26.3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핵심 변별 요인 이동 — 변호사 수 → 취약계층 지원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가중치 A1 0.69→0.40, A3 0.17→0.39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변호사↔부담 관계는 지방에서도 성립 (r=−0.80)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서울 뺀 12권역 점수 순위. 부산·울산·제주 상위, 강원·충북 최하.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11. 가설 검정 종합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H2 ✅ 지지 — 변호사 적을수록 1인당 부담↑ (인구당 사건수 교차검증 +0.91로 순환성 보완)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H4 ✅ 지지 — 변호사 3.4배↑에도 서울 쏠림 심해짐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H1 △ 방향만 맞음 — 수도권 유리하나 표본 작아 확정 못 함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H3 △ 약함 — 소득과 접근성 관계 뚜렷하지 않음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권역 10~13개로 적어 통계적 확신엔 한계 (정직히 명시)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12. 결론 · 정책 시사점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자원의 서울 일극 집중이 격차의 핵심 원인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'수도권이냐'보다 인구 대비·사건부담이 접근성을 좌우 (인천=수도권인데 하위)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변호사를 늘리는 것만으로는 격차가 안 줄어듦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지방끼리는 '취약계층 법률 지원'이 격차의 핵심 → 법률구조 자원 배분 중요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정책: 지방 변호사 인센티브 · 공단 자원 비수도권 우선 · 사건 많은 권역 인력 보강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13. 한계와 향후 과제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검정력 한계 — 17개 시도라 표본이 작음 → H1·H3는 방향만(△)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핵심 기여는 '검정'보다 다출처 통합 파이프라인·지수·실질 임팩트 연결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시점 — 변호사는 2009·현재 2시점 비교(추세선 아님), 법률구조는 시계열로 보강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'빅'데이터 — 양은 중간, 핵심은 다출처 수집·정제·통합(Variety·Veracity)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데이터 해상도 — A3 10도단위 근사, A2 단일연도 본안 기준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연구 범위 · 선행연구 차용 여부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본 분석은 26-1 빅데이터컴퓨팅 기말 프로젝트로 직접 수행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선행연구(타인) 차용: 없음 — 설계·수집·정제·분석·시각화 전부 자체 개발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본인 이전 연구 차용: 없음 — 방법론 골격은 본 과목 제안서에서 설계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외부 차용은 '공개 데이터·지도파일'뿐, 모두 출처 명시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KOSIS·사법연감·공단·변협 / 지도(GeoJSON) / 2009 변호사분포(법률저널)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→ 데이터는 차용, 수집·정제·지수개발·분석·해석은 100% 본 프로젝트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— region13 전체 결과표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0" y="1554480"/>
          <a:ext cx="66751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A1 변호사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A2 사건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A3 구조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LLAI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263.3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16.2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91.1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울산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89.2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24.2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제주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96.0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부산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37.0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53.5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19.1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13.8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106.7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11.7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11.5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광주권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19.7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대전권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대구권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17.3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전북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18.5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85.7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8.8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인천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24.8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108.7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5.0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충북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14.6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107.6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4.2</a:t>
                      </a:r>
                    </a:p>
                  </a:txBody>
                  <a:tcPr anchor="ctr"/>
                </a:tc>
              </a:tr>
              <a:tr h="34617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12.7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121.0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1.6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A — 방법론 선택의 근거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17시도가 아닌 두 단위(13권역/10도단위)인가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변호사·법률구조가 광역시를 도에 묶어 제공 → 시도 분리 불가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두 단위 결론 일치(서울 1위·강원 최하) → 단위 선택에 무관함 입증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'본안사건'인가 — 전체의 60%가 등기·공탁(단순 절차) → 실제 재판만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가중치 3종 — 자의성 방지, 어떤 방식이든 서울 1위(강건성)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0~1 환산 — 단위 통일(명·건·비율), '클수록 좋음' 일치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B — 용어 정리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686800"/>
              </a:tblGrid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용어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쉽게 말하면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본안사건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실제로 다투는 재판 사건(민사·형사·가사). 변호사가 실제 일하는 사건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비송사건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등기·공탁처럼 다툼 없는 단순 행정 절차 → 분석에서 제외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개업변호사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실제 영업 중인 변호사(쉬는 사람 제외)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돈 없는 사람에게 무료·저비용으로 법률 도와주는 제도(공단)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정규화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단위 다른 값을 0~1로 맞춰 비교 가능하게 만들기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엔트로피 가중치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지역마다 차이가 큰(=중요한) 지표에 비중을 더 주는 방식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HHI / 변동계수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한 곳에 얼마나 쏠렸나 / 격차가 얼마나 큰가를 나타내는 수치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군집분석(K-means)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비슷한 지역끼리 자동으로 묶는 방법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코로플레스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지역별 값을 색 진하기로 보여주는 지도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감사합니다</a:t>
            </a:r>
          </a:p>
          <a:p>
            <a:r>
              <a:rPr sz="2000">
                <a:solidFill>
                  <a:srgbClr val="C44E52"/>
                </a:solidFill>
                <a:latin typeface="Malgun Gothic"/>
              </a:rPr>
              <a:t>코드·노트북·인터랙티브 지도: github.com/Allenkeem/llai-project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그래서 뭐? — 변호사 없이 받는 재판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F3A5F"/>
                </a:solidFill>
                <a:latin typeface="Malgun Gothic"/>
              </a:rPr>
              <a:t>낮은 점수(변호사 부족) = 실제로 '나홀로소송'(변호사 없이 재판) 비율이 높다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형사 1심의 약 45%가 변호사 없는 '나홀로소송' (민사 소액사건은 81.8%)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지역 격차 — 서울중앙 35%(전국 최저) vs 대구 51% · 수원 48% · 인천 48%(최고)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부족 지역일수록 혼자 재판 → 방어권·승소 가능성에서 직접 불이익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본 분석 하위권 인천(LLAI 5.0)도 나홀로소송 48% → 두 지표가 같은 방향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→ LLAI 격차는 '숫자'가 아니라 시민이 겪는 '재판의 질'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555555"/>
                </a:solidFill>
                <a:latin typeface="Malgun Gothic"/>
              </a:rPr>
              <a:t>※ 출처: 사법연감·박주민 의원실(리걸타임즈·뉴스1 보도). 외부 통계 인용으로 본 연구 분석과 구분.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